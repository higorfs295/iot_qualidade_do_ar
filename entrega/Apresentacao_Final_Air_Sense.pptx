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d7d97c4f32c4547" /><Relationship Type="http://schemas.openxmlformats.org/officeDocument/2006/relationships/extended-properties" Target="/docProps/app.xml" Id="R6849d63555544717" /><Relationship Type="http://schemas.openxmlformats.org/officeDocument/2006/relationships/officeDocument" Target="/ppt/presentation.xml" Id="Rf2f3f672d6994f5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3b5f221f92e4e38"/>
  </p:sldMasterIdLst>
  <p:notesMasterIdLst>
    <p:notesMasterId xmlns:r="http://schemas.openxmlformats.org/officeDocument/2006/relationships" r:id="Rc9d1e4ee07d74f8a"/>
  </p:notesMasterIdLst>
  <p:sldIdLst>
    <p:sldId xmlns:r="http://schemas.openxmlformats.org/officeDocument/2006/relationships" id="256" r:id="R004295f0a7444ff4"/>
    <p:sldId xmlns:r="http://schemas.openxmlformats.org/officeDocument/2006/relationships" id="257" r:id="R9c99d16219e64a16"/>
    <p:sldId xmlns:r="http://schemas.openxmlformats.org/officeDocument/2006/relationships" id="258" r:id="R1daa12982d6c41e6"/>
    <p:sldId xmlns:r="http://schemas.openxmlformats.org/officeDocument/2006/relationships" id="259" r:id="Raf5dcf171fb44861"/>
    <p:sldId xmlns:r="http://schemas.openxmlformats.org/officeDocument/2006/relationships" id="260" r:id="R06ca25ed93ed475e"/>
    <p:sldId xmlns:r="http://schemas.openxmlformats.org/officeDocument/2006/relationships" id="261" r:id="R73a9af267ed84656"/>
    <p:sldId xmlns:r="http://schemas.openxmlformats.org/officeDocument/2006/relationships" id="262" r:id="Rbde273a0715342f9"/>
    <p:sldId xmlns:r="http://schemas.openxmlformats.org/officeDocument/2006/relationships" id="263" r:id="R589860d6d8b84960"/>
    <p:sldId xmlns:r="http://schemas.openxmlformats.org/officeDocument/2006/relationships" id="264" r:id="R374abab9f3754be5"/>
    <p:sldId xmlns:r="http://schemas.openxmlformats.org/officeDocument/2006/relationships" id="265" r:id="Re8f4a79ecd914824"/>
    <p:sldId xmlns:r="http://schemas.openxmlformats.org/officeDocument/2006/relationships" id="266" r:id="R3bbb2a4bfaa94e28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61022ddfa5e406e" /><Relationship Type="http://schemas.openxmlformats.org/officeDocument/2006/relationships/slideMaster" Target="/ppt/slideMasters/slideMaster1.xml" Id="Rd3b5f221f92e4e38" /><Relationship Type="http://schemas.openxmlformats.org/officeDocument/2006/relationships/notesMaster" Target="/ppt/notesMasters/notesMaster1.xml" Id="Rc9d1e4ee07d74f8a" /><Relationship Type="http://schemas.openxmlformats.org/officeDocument/2006/relationships/presProps" Target="/ppt/presProps.xml" Id="R10b6373fc59d4e19" /><Relationship Type="http://schemas.openxmlformats.org/officeDocument/2006/relationships/viewProps" Target="/ppt/viewProps.xml" Id="R026e6485e2bd4bea" /><Relationship Type="http://schemas.openxmlformats.org/officeDocument/2006/relationships/tableStyles" Target="/ppt/tableStyles.xml" Id="Rbc83806f5dd34438" /><Relationship Type="http://schemas.openxmlformats.org/officeDocument/2006/relationships/slide" Target="/ppt/slides/slide1.xml" Id="R004295f0a7444ff4" /><Relationship Type="http://schemas.openxmlformats.org/officeDocument/2006/relationships/slide" Target="/ppt/slides/slide2.xml" Id="R9c99d16219e64a16" /><Relationship Type="http://schemas.openxmlformats.org/officeDocument/2006/relationships/slide" Target="/ppt/slides/slide3.xml" Id="R1daa12982d6c41e6" /><Relationship Type="http://schemas.openxmlformats.org/officeDocument/2006/relationships/slide" Target="/ppt/slides/slide4.xml" Id="Raf5dcf171fb44861" /><Relationship Type="http://schemas.openxmlformats.org/officeDocument/2006/relationships/slide" Target="/ppt/slides/slide5.xml" Id="R06ca25ed93ed475e" /><Relationship Type="http://schemas.openxmlformats.org/officeDocument/2006/relationships/slide" Target="/ppt/slides/slide6.xml" Id="R73a9af267ed84656" /><Relationship Type="http://schemas.openxmlformats.org/officeDocument/2006/relationships/slide" Target="/ppt/slides/slide7.xml" Id="Rbde273a0715342f9" /><Relationship Type="http://schemas.openxmlformats.org/officeDocument/2006/relationships/slide" Target="/ppt/slides/slide8.xml" Id="R589860d6d8b84960" /><Relationship Type="http://schemas.openxmlformats.org/officeDocument/2006/relationships/slide" Target="/ppt/slides/slide9.xml" Id="R374abab9f3754be5" /><Relationship Type="http://schemas.openxmlformats.org/officeDocument/2006/relationships/slide" Target="/ppt/slides/slide10.xml" Id="Re8f4a79ecd914824" /><Relationship Type="http://schemas.openxmlformats.org/officeDocument/2006/relationships/slide" Target="/ppt/slides/slide11.xml" Id="R3bbb2a4bfaa94e2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aa45efbcaea45e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035db20569845f6" /><Relationship Type="http://schemas.openxmlformats.org/officeDocument/2006/relationships/notesMaster" Target="/ppt/notesMasters/notesMaster1.xml" Id="R9c4557d00896440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83df55d62f6435c" /><Relationship Type="http://schemas.openxmlformats.org/officeDocument/2006/relationships/notesMaster" Target="/ppt/notesMasters/notesMaster1.xml" Id="Ra61dfdd0411041a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adb1da9adaa48fd" /><Relationship Type="http://schemas.openxmlformats.org/officeDocument/2006/relationships/notesMaster" Target="/ppt/notesMasters/notesMaster1.xml" Id="R1a9340dd0993464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a733ccb74954d08" /><Relationship Type="http://schemas.openxmlformats.org/officeDocument/2006/relationships/notesMaster" Target="/ppt/notesMasters/notesMaster1.xml" Id="Rb51f4da72dae462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19a172ea0ce4e40" /><Relationship Type="http://schemas.openxmlformats.org/officeDocument/2006/relationships/notesMaster" Target="/ppt/notesMasters/notesMaster1.xml" Id="R99640d1bee8a417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3211fc356dd4a6e" /><Relationship Type="http://schemas.openxmlformats.org/officeDocument/2006/relationships/notesMaster" Target="/ppt/notesMasters/notesMaster1.xml" Id="R02c88e0127c048f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1754f7d977e4eb5" /><Relationship Type="http://schemas.openxmlformats.org/officeDocument/2006/relationships/notesMaster" Target="/ppt/notesMasters/notesMaster1.xml" Id="R2d67f5f3c0f94dd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4c9c44d81284df0" /><Relationship Type="http://schemas.openxmlformats.org/officeDocument/2006/relationships/notesMaster" Target="/ppt/notesMasters/notesMaster1.xml" Id="R3183883de9d2417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852c66f7d174a46" /><Relationship Type="http://schemas.openxmlformats.org/officeDocument/2006/relationships/notesMaster" Target="/ppt/notesMasters/notesMaster1.xml" Id="R5d8850ff482e44c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9cd6e728961450f" /><Relationship Type="http://schemas.openxmlformats.org/officeDocument/2006/relationships/notesMaster" Target="/ppt/notesMasters/notesMaster1.xml" Id="R3c6b27ce5c974b6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1d2896013924a5e" /><Relationship Type="http://schemas.openxmlformats.org/officeDocument/2006/relationships/notesMaster" Target="/ppt/notesMasters/notesMaster1.xml" Id="Rda050bdd50964cf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Abra com a tese: o projeto entrega uma cadeia integrada e verificável, não um instrumento certificado.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README.md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docs/RELATORIO_VERIFICACAO_FINAL.md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Apresente os quatro integrantes e confirme o nome do professor antes da entrega definitiva.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BASE_FINAL.md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ARQUITETURA.md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Explique por que contexto, origem e estado importam tanto quanto o valor do sensor.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README.md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docs/CONTRATO_TELEMETRIA.md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tmp/web-desktop-v2.png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Conecte o objetivo geral aos quatro objetivos específicos e aos subsistemas correspondentes.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README.md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BASE_FINAL.md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Trate o mercado qualitativamente: o projeto ainda é piloto acadêmico e não possui pesquisa TAM/SAM/SOM.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BASE_FINAL.md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docs/STATUS_PROJETO.md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Mostre como cada requisito termina em uma decisão verificável. Custos externos dependem de cotação e aprovação.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README.md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docs/PLANO_TESTES.md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docs/MEMORIA_ESP32_WROOM32.md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Diferencie diretriz ambiental, princípio de sensor e restrição computacional. VOC Index não é ppm.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https://www.who.int/publications/i/item/9789240034228/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https://sensirion.com/products/catalog/SCD40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https://sensirion.com/media/documents/296373BB/6203C5DF/Sensirion_Gas_Sensors_Datasheet_SGP40.pdf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https://documentation.espressif.com/esp32_wroom-32_datasheet_en.pdf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docs/ROADMAP_FIRMWARE.md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Mostre histórico e aplicativo; destaque a mesma API/WS e os estados live, demo e offline.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dashboard/web/public/app.js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mobile/README.md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tmp/web-history-v2.png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mobile/docs/images/dashboard-demo-dark.png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Siga o fluxo da esquerda para a direita e depois a ramificação AWS. Nenhuma conta foi alterada.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README.md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docs/CONTRATO_TELEMETRIA.md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infra/aws/sandbox.template.json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https://docs.aws.amazon.com/iot/latest/developerguide/iot-rules.html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Use os testes e o consumo de flash como evidência de adequação tecnológica, não como promessa de validação física.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docs/RELATORIO_VERIFICACAO_FINAL.md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firmware/README.md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docs/MEMORIA_ESP32_WROOM32.md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Feche propondo um piloto controlado. Separe claramente software pronto de hardware, calibração e nuvem ainda pendentes.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docs/STATUS_PROJETO.md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docs/PLANO_TESTES.md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docs/ROADMAP_GERAL.md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8e821d96904c1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418a0ed4d04a4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7469d3df184da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06b359796e4d1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b477e04e4a41e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185a786406440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700f8cae67444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480daa720d4080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dbddb8c0f246d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139ddc75c348d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5493ec430b4af3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Google Shape;12;p16">
            <a:extLst xmlns:a="http://schemas.openxmlformats.org/drawingml/2006/main">
              <a:ext uri="{FF2B5EF4-FFF2-40B4-BE49-F238E27FC236}">
                <a16:creationId xmlns:a16="http://schemas.microsoft.com/office/drawing/2014/main" id="{7188A212-2054-4CC9-BBB8-2E33C3B75A4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13" name="Google Shape;13;p16">
            <a:extLst xmlns:a="http://schemas.openxmlformats.org/drawingml/2006/main">
              <a:ext uri="{FF2B5EF4-FFF2-40B4-BE49-F238E27FC236}">
                <a16:creationId xmlns:a16="http://schemas.microsoft.com/office/drawing/2014/main" id="{EB578BDA-1D6D-4EB6-A4BF-33034096921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14" name="Google Shape;14;p16">
            <a:extLst xmlns:a="http://schemas.openxmlformats.org/drawingml/2006/main">
              <a:ext uri="{FF2B5EF4-FFF2-40B4-BE49-F238E27FC236}">
                <a16:creationId xmlns:a16="http://schemas.microsoft.com/office/drawing/2014/main" id="{41F8C7F2-9077-480A-957F-2CF2C7E41CB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15" name="Google Shape;15;p16">
            <a:extLst xmlns:a="http://schemas.openxmlformats.org/drawingml/2006/main">
              <a:ext uri="{FF2B5EF4-FFF2-40B4-BE49-F238E27FC236}">
                <a16:creationId xmlns:a16="http://schemas.microsoft.com/office/drawing/2014/main" id="{877065E5-A661-49F6-B8A4-F2F7BFDFC7E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16" name="Google Shape;16;p16">
            <a:extLst xmlns:a="http://schemas.openxmlformats.org/drawingml/2006/main">
              <a:ext uri="{FF2B5EF4-FFF2-40B4-BE49-F238E27FC236}">
                <a16:creationId xmlns:a16="http://schemas.microsoft.com/office/drawing/2014/main" id="{447E8E43-B574-40CB-B701-082343C2DFF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Title and Content" type="obj">
  <p:cSld name="OBJEC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Google Shape;18;p17">
            <a:extLst xmlns:a="http://schemas.openxmlformats.org/drawingml/2006/main">
              <a:ext uri="{FF2B5EF4-FFF2-40B4-BE49-F238E27FC236}">
                <a16:creationId xmlns:a16="http://schemas.microsoft.com/office/drawing/2014/main" id="{9A82D0F5-589F-49D4-8AAE-56857D80C8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19" name="Google Shape;19;p17">
            <a:extLst xmlns:a="http://schemas.openxmlformats.org/drawingml/2006/main">
              <a:ext uri="{FF2B5EF4-FFF2-40B4-BE49-F238E27FC236}">
                <a16:creationId xmlns:a16="http://schemas.microsoft.com/office/drawing/2014/main" id="{523B52A5-5BA6-4582-80FF-8F0E5187FE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20" name="Google Shape;20;p17">
            <a:extLst xmlns:a="http://schemas.openxmlformats.org/drawingml/2006/main">
              <a:ext uri="{FF2B5EF4-FFF2-40B4-BE49-F238E27FC236}">
                <a16:creationId xmlns:a16="http://schemas.microsoft.com/office/drawing/2014/main" id="{D6D0B592-D604-4A99-95C4-C6EAFFE551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21" name="Google Shape;21;p17">
            <a:extLst xmlns:a="http://schemas.openxmlformats.org/drawingml/2006/main">
              <a:ext uri="{FF2B5EF4-FFF2-40B4-BE49-F238E27FC236}">
                <a16:creationId xmlns:a16="http://schemas.microsoft.com/office/drawing/2014/main" id="{AC6BFB57-5B32-44FA-AE3A-FA59CE8AF01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17">
            <a:extLst xmlns:a="http://schemas.openxmlformats.org/drawingml/2006/main">
              <a:ext uri="{FF2B5EF4-FFF2-40B4-BE49-F238E27FC236}">
                <a16:creationId xmlns:a16="http://schemas.microsoft.com/office/drawing/2014/main" id="{970BE7D8-FA4E-4137-AC6C-B041EAE87EC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Google Shape;24;p18">
            <a:extLst xmlns:a="http://schemas.openxmlformats.org/drawingml/2006/main">
              <a:ext uri="{FF2B5EF4-FFF2-40B4-BE49-F238E27FC236}">
                <a16:creationId xmlns:a16="http://schemas.microsoft.com/office/drawing/2014/main" id="{6A9522E0-572D-43AA-84AE-A91A279590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25" name="Google Shape;25;p18">
            <a:extLst xmlns:a="http://schemas.openxmlformats.org/drawingml/2006/main">
              <a:ext uri="{FF2B5EF4-FFF2-40B4-BE49-F238E27FC236}">
                <a16:creationId xmlns:a16="http://schemas.microsoft.com/office/drawing/2014/main" id="{9D8D1FB0-315F-4742-BEAB-9F3B1A987DE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26" name="Google Shape;26;p18">
            <a:extLst xmlns:a="http://schemas.openxmlformats.org/drawingml/2006/main">
              <a:ext uri="{FF2B5EF4-FFF2-40B4-BE49-F238E27FC236}">
                <a16:creationId xmlns:a16="http://schemas.microsoft.com/office/drawing/2014/main" id="{3C45019C-E846-483C-8148-35E44F88ACE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18">
            <a:extLst xmlns:a="http://schemas.openxmlformats.org/drawingml/2006/main">
              <a:ext uri="{FF2B5EF4-FFF2-40B4-BE49-F238E27FC236}">
                <a16:creationId xmlns:a16="http://schemas.microsoft.com/office/drawing/2014/main" id="{3D1AA6E2-3B2C-44AC-8FAA-242C82A0673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28" name="Google Shape;28;p18">
            <a:extLst xmlns:a="http://schemas.openxmlformats.org/drawingml/2006/main">
              <a:ext uri="{FF2B5EF4-FFF2-40B4-BE49-F238E27FC236}">
                <a16:creationId xmlns:a16="http://schemas.microsoft.com/office/drawing/2014/main" id="{1C2D2282-D787-4C55-BC8E-E638A1C785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wo Content" type="twoObj">
  <p:cSld name="TWO_OBJECT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Google Shape;30;p19">
            <a:extLst xmlns:a="http://schemas.openxmlformats.org/drawingml/2006/main">
              <a:ext uri="{FF2B5EF4-FFF2-40B4-BE49-F238E27FC236}">
                <a16:creationId xmlns:a16="http://schemas.microsoft.com/office/drawing/2014/main" id="{570CFEBD-A63F-44E3-B412-F28B99D3BE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31" name="Google Shape;31;p19">
            <a:extLst xmlns:a="http://schemas.openxmlformats.org/drawingml/2006/main">
              <a:ext uri="{FF2B5EF4-FFF2-40B4-BE49-F238E27FC236}">
                <a16:creationId xmlns:a16="http://schemas.microsoft.com/office/drawing/2014/main" id="{576CED48-FEF1-49D2-9057-E4E9ADE6728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4038600" cy="4525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 xmlns:a="http://schemas.openxmlformats.org/drawingml/2006/main"/>
        </p:txBody>
      </p:sp>
      <p:sp>
        <p:nvSpPr>
          <p:cNvPr id="32" name="Google Shape;32;p19">
            <a:extLst xmlns:a="http://schemas.openxmlformats.org/drawingml/2006/main">
              <a:ext uri="{FF2B5EF4-FFF2-40B4-BE49-F238E27FC236}">
                <a16:creationId xmlns:a16="http://schemas.microsoft.com/office/drawing/2014/main" id="{24ED5822-2A39-45CC-9852-07AD09C2D70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648200" y="1600200"/>
            <a:ext cx="4038600" cy="4525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 xmlns:a="http://schemas.openxmlformats.org/drawingml/2006/main"/>
        </p:txBody>
      </p:sp>
      <p:sp>
        <p:nvSpPr>
          <p:cNvPr id="33" name="Google Shape;33;p19">
            <a:extLst xmlns:a="http://schemas.openxmlformats.org/drawingml/2006/main">
              <a:ext uri="{FF2B5EF4-FFF2-40B4-BE49-F238E27FC236}">
                <a16:creationId xmlns:a16="http://schemas.microsoft.com/office/drawing/2014/main" id="{A00C04B9-12F4-4A19-A4BC-96903945B3E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34" name="Google Shape;34;p19">
            <a:extLst xmlns:a="http://schemas.openxmlformats.org/drawingml/2006/main">
              <a:ext uri="{FF2B5EF4-FFF2-40B4-BE49-F238E27FC236}">
                <a16:creationId xmlns:a16="http://schemas.microsoft.com/office/drawing/2014/main" id="{168A0EE4-7086-4150-9701-FAE52645AA5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35" name="Google Shape;35;p19">
            <a:extLst xmlns:a="http://schemas.openxmlformats.org/drawingml/2006/main">
              <a:ext uri="{FF2B5EF4-FFF2-40B4-BE49-F238E27FC236}">
                <a16:creationId xmlns:a16="http://schemas.microsoft.com/office/drawing/2014/main" id="{477B4098-43F8-44B7-A34D-7F5509E18D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Comparison" type="twoTxTwoObj">
  <p:cSld name="TWO_OBJECTS_WITH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Google Shape;37;p20">
            <a:extLst xmlns:a="http://schemas.openxmlformats.org/drawingml/2006/main">
              <a:ext uri="{FF2B5EF4-FFF2-40B4-BE49-F238E27FC236}">
                <a16:creationId xmlns:a16="http://schemas.microsoft.com/office/drawing/2014/main" id="{EC37E590-FF2F-4DA2-9F90-D239AE0989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38" name="Google Shape;38;p20">
            <a:extLst xmlns:a="http://schemas.openxmlformats.org/drawingml/2006/main">
              <a:ext uri="{FF2B5EF4-FFF2-40B4-BE49-F238E27FC236}">
                <a16:creationId xmlns:a16="http://schemas.microsoft.com/office/drawing/2014/main" id="{0353F5C2-2B2A-4894-8900-013A8995C6B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/>
        </p:txBody>
      </p:sp>
      <p:sp>
        <p:nvSpPr>
          <p:cNvPr id="39" name="Google Shape;39;p20">
            <a:extLst xmlns:a="http://schemas.openxmlformats.org/drawingml/2006/main">
              <a:ext uri="{FF2B5EF4-FFF2-40B4-BE49-F238E27FC236}">
                <a16:creationId xmlns:a16="http://schemas.microsoft.com/office/drawing/2014/main" id="{D2BA0F94-C108-49DF-829D-47B86E62070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2174875"/>
            <a:ext cx="4040188" cy="39512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 xmlns:a="http://schemas.openxmlformats.org/drawingml/2006/main"/>
        </p:txBody>
      </p:sp>
      <p:sp>
        <p:nvSpPr>
          <p:cNvPr id="40" name="Google Shape;40;p20">
            <a:extLst xmlns:a="http://schemas.openxmlformats.org/drawingml/2006/main">
              <a:ext uri="{FF2B5EF4-FFF2-40B4-BE49-F238E27FC236}">
                <a16:creationId xmlns:a16="http://schemas.microsoft.com/office/drawing/2014/main" id="{ED883130-5EC9-47D0-BD56-C420501B871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/>
        </p:txBody>
      </p:sp>
      <p:sp>
        <p:nvSpPr>
          <p:cNvPr id="41" name="Google Shape;41;p20">
            <a:extLst xmlns:a="http://schemas.openxmlformats.org/drawingml/2006/main">
              <a:ext uri="{FF2B5EF4-FFF2-40B4-BE49-F238E27FC236}">
                <a16:creationId xmlns:a16="http://schemas.microsoft.com/office/drawing/2014/main" id="{FE7329EC-83A7-4F08-B780-AB28ECA3D12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4645025" y="2174875"/>
            <a:ext cx="4041775" cy="39512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 xmlns:a="http://schemas.openxmlformats.org/drawingml/2006/main"/>
        </p:txBody>
      </p:sp>
      <p:sp>
        <p:nvSpPr>
          <p:cNvPr id="42" name="Google Shape;42;p20">
            <a:extLst xmlns:a="http://schemas.openxmlformats.org/drawingml/2006/main">
              <a:ext uri="{FF2B5EF4-FFF2-40B4-BE49-F238E27FC236}">
                <a16:creationId xmlns:a16="http://schemas.microsoft.com/office/drawing/2014/main" id="{3C1D7A97-D953-443D-8FD6-A8C26C79958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43" name="Google Shape;43;p20">
            <a:extLst xmlns:a="http://schemas.openxmlformats.org/drawingml/2006/main">
              <a:ext uri="{FF2B5EF4-FFF2-40B4-BE49-F238E27FC236}">
                <a16:creationId xmlns:a16="http://schemas.microsoft.com/office/drawing/2014/main" id="{ED0E6EEB-E630-4AC6-89A0-8C6428E357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44" name="Google Shape;44;p20">
            <a:extLst xmlns:a="http://schemas.openxmlformats.org/drawingml/2006/main">
              <a:ext uri="{FF2B5EF4-FFF2-40B4-BE49-F238E27FC236}">
                <a16:creationId xmlns:a16="http://schemas.microsoft.com/office/drawing/2014/main" id="{A38F375B-8992-4F1E-8336-323DED1F799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Google Shape;46;p21">
            <a:extLst xmlns:a="http://schemas.openxmlformats.org/drawingml/2006/main">
              <a:ext uri="{FF2B5EF4-FFF2-40B4-BE49-F238E27FC236}">
                <a16:creationId xmlns:a16="http://schemas.microsoft.com/office/drawing/2014/main" id="{8E3B32D2-0BFB-4944-9F39-0D66AC6E46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47" name="Google Shape;47;p21">
            <a:extLst xmlns:a="http://schemas.openxmlformats.org/drawingml/2006/main">
              <a:ext uri="{FF2B5EF4-FFF2-40B4-BE49-F238E27FC236}">
                <a16:creationId xmlns:a16="http://schemas.microsoft.com/office/drawing/2014/main" id="{8FF6A439-48E5-4A25-8BA0-61121789FD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48" name="Google Shape;48;p21">
            <a:extLst xmlns:a="http://schemas.openxmlformats.org/drawingml/2006/main">
              <a:ext uri="{FF2B5EF4-FFF2-40B4-BE49-F238E27FC236}">
                <a16:creationId xmlns:a16="http://schemas.microsoft.com/office/drawing/2014/main" id="{3A9DD8CD-CAEE-487C-BE1F-2D079A924FA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49" name="Google Shape;49;p21">
            <a:extLst xmlns:a="http://schemas.openxmlformats.org/drawingml/2006/main">
              <a:ext uri="{FF2B5EF4-FFF2-40B4-BE49-F238E27FC236}">
                <a16:creationId xmlns:a16="http://schemas.microsoft.com/office/drawing/2014/main" id="{6CC9FC89-27D4-4DAD-8708-F35B961BA65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Google Shape;51;p22">
            <a:extLst xmlns:a="http://schemas.openxmlformats.org/drawingml/2006/main">
              <a:ext uri="{FF2B5EF4-FFF2-40B4-BE49-F238E27FC236}">
                <a16:creationId xmlns:a16="http://schemas.microsoft.com/office/drawing/2014/main" id="{2F930AED-3053-41EB-BD02-CF87551187C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52" name="Google Shape;52;p22">
            <a:extLst xmlns:a="http://schemas.openxmlformats.org/drawingml/2006/main">
              <a:ext uri="{FF2B5EF4-FFF2-40B4-BE49-F238E27FC236}">
                <a16:creationId xmlns:a16="http://schemas.microsoft.com/office/drawing/2014/main" id="{17318744-632F-465B-8053-C2E80D81B19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53" name="Google Shape;53;p22">
            <a:extLst xmlns:a="http://schemas.openxmlformats.org/drawingml/2006/main">
              <a:ext uri="{FF2B5EF4-FFF2-40B4-BE49-F238E27FC236}">
                <a16:creationId xmlns:a16="http://schemas.microsoft.com/office/drawing/2014/main" id="{A88E9D97-7D35-42C2-ADDE-3DF84A3D1EE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Content with Caption" type="objTx">
  <p:cSld name="OBJECT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Google Shape;55;p23">
            <a:extLst xmlns:a="http://schemas.openxmlformats.org/drawingml/2006/main">
              <a:ext uri="{FF2B5EF4-FFF2-40B4-BE49-F238E27FC236}">
                <a16:creationId xmlns:a16="http://schemas.microsoft.com/office/drawing/2014/main" id="{89BACDC0-566D-4D8C-8817-A26C8DBAB3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56" name="Google Shape;56;p23">
            <a:extLst xmlns:a="http://schemas.openxmlformats.org/drawingml/2006/main">
              <a:ext uri="{FF2B5EF4-FFF2-40B4-BE49-F238E27FC236}">
                <a16:creationId xmlns:a16="http://schemas.microsoft.com/office/drawing/2014/main" id="{CFDB40CD-7BC8-4044-902A-A88C6BB052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575050" y="273050"/>
            <a:ext cx="5111750" cy="5853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 xmlns:a="http://schemas.openxmlformats.org/drawingml/2006/main"/>
        </p:txBody>
      </p:sp>
      <p:sp>
        <p:nvSpPr>
          <p:cNvPr id="57" name="Google Shape;57;p23">
            <a:extLst xmlns:a="http://schemas.openxmlformats.org/drawingml/2006/main">
              <a:ext uri="{FF2B5EF4-FFF2-40B4-BE49-F238E27FC236}">
                <a16:creationId xmlns:a16="http://schemas.microsoft.com/office/drawing/2014/main" id="{297EE6E8-A1AC-4272-90C9-77F2EA3D74A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 xmlns:a="http://schemas.openxmlformats.org/drawingml/2006/main"/>
        </p:txBody>
      </p:sp>
      <p:sp>
        <p:nvSpPr>
          <p:cNvPr id="58" name="Google Shape;58;p23">
            <a:extLst xmlns:a="http://schemas.openxmlformats.org/drawingml/2006/main">
              <a:ext uri="{FF2B5EF4-FFF2-40B4-BE49-F238E27FC236}">
                <a16:creationId xmlns:a16="http://schemas.microsoft.com/office/drawing/2014/main" id="{60A78D8B-1A8D-42BD-8D50-3E72DF6AB2A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59" name="Google Shape;59;p23">
            <a:extLst xmlns:a="http://schemas.openxmlformats.org/drawingml/2006/main">
              <a:ext uri="{FF2B5EF4-FFF2-40B4-BE49-F238E27FC236}">
                <a16:creationId xmlns:a16="http://schemas.microsoft.com/office/drawing/2014/main" id="{D8399E85-9FBE-46D0-B4B8-CA300C6984C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60" name="Google Shape;60;p23">
            <a:extLst xmlns:a="http://schemas.openxmlformats.org/drawingml/2006/main">
              <a:ext uri="{FF2B5EF4-FFF2-40B4-BE49-F238E27FC236}">
                <a16:creationId xmlns:a16="http://schemas.microsoft.com/office/drawing/2014/main" id="{A3A3239F-E6C5-4549-AA6F-64BA0D979B8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Picture with Caption" type="picTx">
  <p:cSld name="PICTURE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Google Shape;62;p24">
            <a:extLst xmlns:a="http://schemas.openxmlformats.org/drawingml/2006/main">
              <a:ext uri="{FF2B5EF4-FFF2-40B4-BE49-F238E27FC236}">
                <a16:creationId xmlns:a16="http://schemas.microsoft.com/office/drawing/2014/main" id="{B6CF595D-E484-49AA-A4D8-AE6FD916EA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63" name="Google Shape;63;p24">
            <a:extLst xmlns:a="http://schemas.openxmlformats.org/drawingml/2006/main">
              <a:ext uri="{FF2B5EF4-FFF2-40B4-BE49-F238E27FC236}">
                <a16:creationId xmlns:a16="http://schemas.microsoft.com/office/drawing/2014/main" id="{495C8941-D749-4292-98FD-D1986C6EFC52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1792288" y="612775"/>
            <a:ext cx="5486400" cy="411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4" name="Google Shape;64;p24">
            <a:extLst xmlns:a="http://schemas.openxmlformats.org/drawingml/2006/main">
              <a:ext uri="{FF2B5EF4-FFF2-40B4-BE49-F238E27FC236}">
                <a16:creationId xmlns:a16="http://schemas.microsoft.com/office/drawing/2014/main" id="{35B81F34-221C-4569-817C-64F2317BAA5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792288" y="5367338"/>
            <a:ext cx="5486400" cy="8048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 xmlns:a="http://schemas.openxmlformats.org/drawingml/2006/main"/>
        </p:txBody>
      </p:sp>
      <p:sp>
        <p:nvSpPr>
          <p:cNvPr id="65" name="Google Shape;65;p24">
            <a:extLst xmlns:a="http://schemas.openxmlformats.org/drawingml/2006/main">
              <a:ext uri="{FF2B5EF4-FFF2-40B4-BE49-F238E27FC236}">
                <a16:creationId xmlns:a16="http://schemas.microsoft.com/office/drawing/2014/main" id="{667B82A6-DECF-4C85-9025-31741199B49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66" name="Google Shape;66;p24">
            <a:extLst xmlns:a="http://schemas.openxmlformats.org/drawingml/2006/main">
              <a:ext uri="{FF2B5EF4-FFF2-40B4-BE49-F238E27FC236}">
                <a16:creationId xmlns:a16="http://schemas.microsoft.com/office/drawing/2014/main" id="{C87B848E-A43A-4604-99FD-1BB70E32C60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67" name="Google Shape;67;p24">
            <a:extLst xmlns:a="http://schemas.openxmlformats.org/drawingml/2006/main">
              <a:ext uri="{FF2B5EF4-FFF2-40B4-BE49-F238E27FC236}">
                <a16:creationId xmlns:a16="http://schemas.microsoft.com/office/drawing/2014/main" id="{44F7C82A-8C20-4766-A46A-435977F65A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Title and Vertical Text" type="vertTx">
  <p:cSld name="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Google Shape;69;p25">
            <a:extLst xmlns:a="http://schemas.openxmlformats.org/drawingml/2006/main">
              <a:ext uri="{FF2B5EF4-FFF2-40B4-BE49-F238E27FC236}">
                <a16:creationId xmlns:a16="http://schemas.microsoft.com/office/drawing/2014/main" id="{C1761903-8A40-4BE7-B2F3-6CABA62EE1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0" name="Google Shape;70;p25">
            <a:extLst xmlns:a="http://schemas.openxmlformats.org/drawingml/2006/main">
              <a:ext uri="{FF2B5EF4-FFF2-40B4-BE49-F238E27FC236}">
                <a16:creationId xmlns:a16="http://schemas.microsoft.com/office/drawing/2014/main" id="{484EEBF0-E2DE-4834-BC0E-53BB8A84C27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2309019" y="-251618"/>
            <a:ext cx="4525963" cy="822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71" name="Google Shape;71;p25">
            <a:extLst xmlns:a="http://schemas.openxmlformats.org/drawingml/2006/main">
              <a:ext uri="{FF2B5EF4-FFF2-40B4-BE49-F238E27FC236}">
                <a16:creationId xmlns:a16="http://schemas.microsoft.com/office/drawing/2014/main" id="{3CBE6CB0-1833-4870-BE0F-7726B832CF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2" name="Google Shape;72;p25">
            <a:extLst xmlns:a="http://schemas.openxmlformats.org/drawingml/2006/main">
              <a:ext uri="{FF2B5EF4-FFF2-40B4-BE49-F238E27FC236}">
                <a16:creationId xmlns:a16="http://schemas.microsoft.com/office/drawing/2014/main" id="{BB96A959-CCD1-4473-9BD9-5B0C0DF02F2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3" name="Google Shape;73;p25">
            <a:extLst xmlns:a="http://schemas.openxmlformats.org/drawingml/2006/main">
              <a:ext uri="{FF2B5EF4-FFF2-40B4-BE49-F238E27FC236}">
                <a16:creationId xmlns:a16="http://schemas.microsoft.com/office/drawing/2014/main" id="{0C5B7E5F-540F-4DCA-91C7-B82CDC426A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Vertical Title and Text" type="vertTitleAndTx">
  <p:cSld name="VERTICAL_TITLE_AND_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Google Shape;75;p26">
            <a:extLst xmlns:a="http://schemas.openxmlformats.org/drawingml/2006/main">
              <a:ext uri="{FF2B5EF4-FFF2-40B4-BE49-F238E27FC236}">
                <a16:creationId xmlns:a16="http://schemas.microsoft.com/office/drawing/2014/main" id="{4F918D72-6F3C-4FBF-A0CF-1C7D9A6FBA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4732338" y="2171701"/>
            <a:ext cx="5851525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6" name="Google Shape;76;p26">
            <a:extLst xmlns:a="http://schemas.openxmlformats.org/drawingml/2006/main">
              <a:ext uri="{FF2B5EF4-FFF2-40B4-BE49-F238E27FC236}">
                <a16:creationId xmlns:a16="http://schemas.microsoft.com/office/drawing/2014/main" id="{83E9277A-6A0E-46CC-BFCC-C6D56E49A77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541338" y="190500"/>
            <a:ext cx="5851525" cy="601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77" name="Google Shape;77;p26">
            <a:extLst xmlns:a="http://schemas.openxmlformats.org/drawingml/2006/main">
              <a:ext uri="{FF2B5EF4-FFF2-40B4-BE49-F238E27FC236}">
                <a16:creationId xmlns:a16="http://schemas.microsoft.com/office/drawing/2014/main" id="{63131CA1-5A33-456C-8CD0-8832FFE870B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8" name="Google Shape;78;p26">
            <a:extLst xmlns:a="http://schemas.openxmlformats.org/drawingml/2006/main">
              <a:ext uri="{FF2B5EF4-FFF2-40B4-BE49-F238E27FC236}">
                <a16:creationId xmlns:a16="http://schemas.microsoft.com/office/drawing/2014/main" id="{592A6F63-84BA-4CFD-BA77-EE4D44256C1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9" name="Google Shape;79;p26">
            <a:extLst xmlns:a="http://schemas.openxmlformats.org/drawingml/2006/main">
              <a:ext uri="{FF2B5EF4-FFF2-40B4-BE49-F238E27FC236}">
                <a16:creationId xmlns:a16="http://schemas.microsoft.com/office/drawing/2014/main" id="{4239303D-81C6-47D9-A6E5-FCED468FA0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83800e3002d494f" /><Relationship Type="http://schemas.openxmlformats.org/officeDocument/2006/relationships/slideLayout" Target="/ppt/slideLayouts/slideLayout1.xml" Id="R84bfb14f3ca7453e" /><Relationship Type="http://schemas.openxmlformats.org/officeDocument/2006/relationships/slideLayout" Target="/ppt/slideLayouts/slideLayout2.xml" Id="R8f500e41ac4a497c" /><Relationship Type="http://schemas.openxmlformats.org/officeDocument/2006/relationships/slideLayout" Target="/ppt/slideLayouts/slideLayout3.xml" Id="R5bd5fd929d38468a" /><Relationship Type="http://schemas.openxmlformats.org/officeDocument/2006/relationships/slideLayout" Target="/ppt/slideLayouts/slideLayout4.xml" Id="R2c0ac949b57b4d75" /><Relationship Type="http://schemas.openxmlformats.org/officeDocument/2006/relationships/slideLayout" Target="/ppt/slideLayouts/slideLayout5.xml" Id="R55e24c4f1d0342f9" /><Relationship Type="http://schemas.openxmlformats.org/officeDocument/2006/relationships/slideLayout" Target="/ppt/slideLayouts/slideLayout6.xml" Id="R5e506a70f79a43a3" /><Relationship Type="http://schemas.openxmlformats.org/officeDocument/2006/relationships/slideLayout" Target="/ppt/slideLayouts/slideLayout7.xml" Id="Rd9e8c51b604b4d8c" /><Relationship Type="http://schemas.openxmlformats.org/officeDocument/2006/relationships/slideLayout" Target="/ppt/slideLayouts/slideLayout8.xml" Id="R9503ec37bd9c4441" /><Relationship Type="http://schemas.openxmlformats.org/officeDocument/2006/relationships/slideLayout" Target="/ppt/slideLayouts/slideLayout9.xml" Id="R7dc566ef9aef4bb5" /><Relationship Type="http://schemas.openxmlformats.org/officeDocument/2006/relationships/slideLayout" Target="/ppt/slideLayouts/slideLayout10.xml" Id="Rfe6986fd66b84f6b" /><Relationship Type="http://schemas.openxmlformats.org/officeDocument/2006/relationships/slideLayout" Target="/ppt/slideLayouts/slideLayout11.xml" Id="R074b01815cea4bc7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5">
            <a:extLst xmlns:a="http://schemas.openxmlformats.org/drawingml/2006/main">
              <a:ext uri="{FF2B5EF4-FFF2-40B4-BE49-F238E27FC236}">
                <a16:creationId xmlns:a16="http://schemas.microsoft.com/office/drawing/2014/main" id="{F3E80188-9CB7-4494-95F7-BE59010C1F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 xmlns:a="http://schemas.openxmlformats.org/drawingml/2006/main"/>
        </p:txBody>
      </p:sp>
      <p:sp>
        <p:nvSpPr>
          <p:cNvPr id="7" name="Google Shape;7;p15">
            <a:extLst xmlns:a="http://schemas.openxmlformats.org/drawingml/2006/main">
              <a:ext uri="{FF2B5EF4-FFF2-40B4-BE49-F238E27FC236}">
                <a16:creationId xmlns:a16="http://schemas.microsoft.com/office/drawing/2014/main" id="{D267931E-0309-4144-9654-1501D4AFDF6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/>
        </p:txBody>
      </p:sp>
      <p:sp>
        <p:nvSpPr>
          <p:cNvPr id="8" name="Google Shape;8;p15">
            <a:extLst xmlns:a="http://schemas.openxmlformats.org/drawingml/2006/main">
              <a:ext uri="{FF2B5EF4-FFF2-40B4-BE49-F238E27FC236}">
                <a16:creationId xmlns:a16="http://schemas.microsoft.com/office/drawing/2014/main" id="{A4B8F626-24F7-42F8-A919-A430C62DF9B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/>
        </p:txBody>
      </p:sp>
      <p:sp>
        <p:nvSpPr>
          <p:cNvPr id="9" name="Google Shape;9;p15">
            <a:extLst xmlns:a="http://schemas.openxmlformats.org/drawingml/2006/main">
              <a:ext uri="{FF2B5EF4-FFF2-40B4-BE49-F238E27FC236}">
                <a16:creationId xmlns:a16="http://schemas.microsoft.com/office/drawing/2014/main" id="{8634558C-CB56-4B25-A3E2-AD88146F561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/>
        </p:txBody>
      </p:sp>
      <p:sp>
        <p:nvSpPr>
          <p:cNvPr id="10" name="Google Shape;10;p15">
            <a:extLst xmlns:a="http://schemas.openxmlformats.org/drawingml/2006/main">
              <a:ext uri="{FF2B5EF4-FFF2-40B4-BE49-F238E27FC236}">
                <a16:creationId xmlns:a16="http://schemas.microsoft.com/office/drawing/2014/main" id="{81592C70-0371-4952-B071-79A21C8F9D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4bfb14f3ca7453e"/>
    <p:sldLayoutId xmlns:r="http://schemas.openxmlformats.org/officeDocument/2006/relationships" id="2147483650" r:id="R8f500e41ac4a497c"/>
    <p:sldLayoutId xmlns:r="http://schemas.openxmlformats.org/officeDocument/2006/relationships" id="2147483651" r:id="R5bd5fd929d38468a"/>
    <p:sldLayoutId xmlns:r="http://schemas.openxmlformats.org/officeDocument/2006/relationships" id="2147483652" r:id="R2c0ac949b57b4d75"/>
    <p:sldLayoutId xmlns:r="http://schemas.openxmlformats.org/officeDocument/2006/relationships" id="2147483653" r:id="R55e24c4f1d0342f9"/>
    <p:sldLayoutId xmlns:r="http://schemas.openxmlformats.org/officeDocument/2006/relationships" id="2147483654" r:id="R5e506a70f79a43a3"/>
    <p:sldLayoutId xmlns:r="http://schemas.openxmlformats.org/officeDocument/2006/relationships" id="2147483655" r:id="Rd9e8c51b604b4d8c"/>
    <p:sldLayoutId xmlns:r="http://schemas.openxmlformats.org/officeDocument/2006/relationships" id="2147483656" r:id="R9503ec37bd9c4441"/>
    <p:sldLayoutId xmlns:r="http://schemas.openxmlformats.org/officeDocument/2006/relationships" id="2147483657" r:id="R7dc566ef9aef4bb5"/>
    <p:sldLayoutId xmlns:r="http://schemas.openxmlformats.org/officeDocument/2006/relationships" id="2147483658" r:id="Rfe6986fd66b84f6b"/>
    <p:sldLayoutId xmlns:r="http://schemas.openxmlformats.org/officeDocument/2006/relationships" id="2147483659" r:id="R074b01815cea4bc7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0c0433b5254502" /><Relationship Type="http://schemas.openxmlformats.org/officeDocument/2006/relationships/notesSlide" Target="/ppt/notesSlides/notesSlide1.xml" Id="R76f1a598c37545a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1246c6155a4d8f" /><Relationship Type="http://schemas.openxmlformats.org/officeDocument/2006/relationships/notesSlide" Target="/ppt/notesSlides/notesSlide2.xml" Id="Re35922f3707a488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84ec2595e14af4" /><Relationship Type="http://schemas.openxmlformats.org/officeDocument/2006/relationships/image" Target="/ppt/media/image.png" Id="R43dc99fd3a884d32" /><Relationship Type="http://schemas.openxmlformats.org/officeDocument/2006/relationships/notesSlide" Target="/ppt/notesSlides/notesSlide3.xml" Id="Rda966b9f6036408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a4ffcb85244071" /><Relationship Type="http://schemas.openxmlformats.org/officeDocument/2006/relationships/notesSlide" Target="/ppt/notesSlides/notesSlide4.xml" Id="Rdcbe84c060fb486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5be0f007c58434b" /><Relationship Type="http://schemas.openxmlformats.org/officeDocument/2006/relationships/notesSlide" Target="/ppt/notesSlides/notesSlide5.xml" Id="Ra8007b4d67c84cf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b9c0122d0540f9" /><Relationship Type="http://schemas.openxmlformats.org/officeDocument/2006/relationships/notesSlide" Target="/ppt/notesSlides/notesSlide6.xml" Id="R6181dd344f79449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5c3dac23974872" /><Relationship Type="http://schemas.openxmlformats.org/officeDocument/2006/relationships/notesSlide" Target="/ppt/notesSlides/notesSlide7.xml" Id="R9be1e2326897424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6dbc60eea7466a" /><Relationship Type="http://schemas.openxmlformats.org/officeDocument/2006/relationships/image" Target="/ppt/media/image2.png" Id="R0815ea8d737a43d1" /><Relationship Type="http://schemas.openxmlformats.org/officeDocument/2006/relationships/image" Target="/ppt/media/image3.png" Id="Rf187361347474831" /><Relationship Type="http://schemas.openxmlformats.org/officeDocument/2006/relationships/notesSlide" Target="/ppt/notesSlides/notesSlide8.xml" Id="R98857cd28dee4e0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cd49c49d8b4436b" /><Relationship Type="http://schemas.openxmlformats.org/officeDocument/2006/relationships/notesSlide" Target="/ppt/notesSlides/notesSlide9.xml" Id="Rb61837e8def7428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00cd078619f4a99" /><Relationship Type="http://schemas.openxmlformats.org/officeDocument/2006/relationships/notesSlide" Target="/ppt/notesSlides/notesSlide10.xml" Id="R42b1ec060b13402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042f6258bac46a5" /><Relationship Type="http://schemas.openxmlformats.org/officeDocument/2006/relationships/notesSlide" Target="/ppt/notesSlides/notesSlide11.xml" Id="R26f132579e20461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F2C4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4" name="Google Shape;84;p1">
            <a:extLst xmlns:a="http://schemas.openxmlformats.org/drawingml/2006/main">
              <a:ext uri="{FF2B5EF4-FFF2-40B4-BE49-F238E27FC236}">
                <a16:creationId xmlns:a16="http://schemas.microsoft.com/office/drawing/2014/main" id="{1D86E999-D4ED-463D-902A-C1C2E2C7D1F6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47700" y="990600"/>
            <a:ext cx="54768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5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AIR SENSE</a:t>
            </a:r>
          </a:p>
        </p:txBody>
      </p:sp>
      <p:sp>
        <p:nvSpPr>
          <p:cNvPr id="85" name="Google Shape;85;p1">
            <a:extLst xmlns:a="http://schemas.openxmlformats.org/drawingml/2006/main">
              <a:ext uri="{FF2B5EF4-FFF2-40B4-BE49-F238E27FC236}">
                <a16:creationId xmlns:a16="http://schemas.microsoft.com/office/drawing/2014/main" id="{1356D282-D627-405F-A4BF-12DB66486AC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85800" y="2209800"/>
            <a:ext cx="53340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spcFirstLastPara="1" wrap="square" lIns="0" tIns="0" rIns="0" bIns="0" anchor="t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725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APRESENTAÇÃO FINAL DA DISCIPLINA · PROJETO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725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Monitoramento IoT de qualidade do ar, do sensor à nuvem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725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 min de apresentação + 5 min de perguntas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61CB21B-8864-4E27-9006-EB73A7B53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1049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BA4408D-A8DF-4082-8210-42447E55F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38BDF8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38BDF8"/>
                </a:solidFill>
                <a:latin typeface="Calibri"/>
                <a:ea typeface="Calibri"/>
                <a:cs typeface="Calibri"/>
              </a:rPr>
              <a:t>ESP-WROOM-32  ·  MQTT  ·  WEB/PWA  ·  FLUTTER  ·  AWS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843AACD-B44E-4640-B32D-550977BD5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72125"/>
            <a:ext cx="561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D7E8F5"/>
                </a:solidFill>
                <a:latin typeface="Calibri"/>
                <a:ea typeface="Calibri"/>
                <a:cs typeface="Calibri"/>
              </a:defRPr>
            </a:pPr>
            <a:r>
              <a:rPr sz="1125">
                <a:solidFill>
                  <a:srgbClr val="D7E8F5"/>
                </a:solidFill>
                <a:latin typeface="Calibri"/>
                <a:ea typeface="Calibri"/>
                <a:cs typeface="Calibri"/>
              </a:rPr>
              <a:t>Grupo 6 · UFG · Engenharia de Computação · 02/08/2026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26D2D8DF-3156-4541-89FB-F36F418B0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33400"/>
            <a:ext cx="1905000" cy="533400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73A5E"/>
          </a:solidFill>
          <a:ln xmlns:a="http://schemas.openxmlformats.org/drawingml/2006/main" w="9525">
            <a:solidFill>
              <a:srgbClr val="2D5A82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5946135F-1ED9-4E47-9E2B-931CE6A75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9906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4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6E0CF19C-5292-4260-A14B-5B816E600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000125"/>
            <a:ext cx="457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F888832F-C3C1-48E0-93BA-D509BD2EC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066800"/>
            <a:ext cx="781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SENSORES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58615DB3-37B1-4F01-A7FC-A3CA6CA33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466850"/>
            <a:ext cx="0" cy="647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D96B7"/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3A5335E-C47F-41CB-BE3A-ED327772F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1145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33021C1-191B-4EBB-86A4-2D310468E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124075"/>
            <a:ext cx="457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076DC02B-BB76-4D48-84E1-50E0BCAC2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190750"/>
            <a:ext cx="781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ESP32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348FBB59-721C-4120-8131-71EAB727E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590800"/>
            <a:ext cx="0" cy="647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D96B7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38C7F446-076C-4EB6-80B6-F3DCCAC94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2385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4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4D7CB39A-6D5B-4752-9294-AE33286CF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248025"/>
            <a:ext cx="457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79030B35-A909-49EC-BAAE-2513348F8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314700"/>
            <a:ext cx="781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DADOS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B048897B-A7FB-4AB3-8198-258767C6E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714750"/>
            <a:ext cx="0" cy="647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D96B7"/>
            </a:solidFill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A4A02F54-9F0C-4160-A68C-E4243E7B5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3624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4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4BD337CF-6411-412F-BF6C-8CDCBBD12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371975"/>
            <a:ext cx="457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DD013512-C1E2-4133-A732-9F745084D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438650"/>
            <a:ext cx="781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DECISÃO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1F424967-A46A-4BDB-ABFD-2D804056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6429375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B9D5E8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B9D5E8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7922680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0" name="Google Shape;90;p2">
            <a:extLst xmlns:a="http://schemas.openxmlformats.org/drawingml/2006/main">
              <a:ext uri="{FF2B5EF4-FFF2-40B4-BE49-F238E27FC236}">
                <a16:creationId xmlns:a16="http://schemas.microsoft.com/office/drawing/2014/main" id="{D4EECFC1-E930-4909-B0F4-B3A55DA4A1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514350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1 · Identificação</a:t>
            </a:r>
          </a:p>
        </p:txBody>
      </p:sp>
      <p:sp>
        <p:nvSpPr>
          <p:cNvPr id="91" name="Google Shape;91;p2">
            <a:extLst xmlns:a="http://schemas.openxmlformats.org/drawingml/2006/main">
              <a:ext uri="{FF2B5EF4-FFF2-40B4-BE49-F238E27FC236}">
                <a16:creationId xmlns:a16="http://schemas.microsoft.com/office/drawing/2014/main" id="{3CB7F101-1595-4888-BACE-0041FEE525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219200"/>
            <a:ext cx="7734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Uma estação IoT acadêmica, integrada do sensor à nuvem.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F37707F1-7437-4A11-811E-77970C933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C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437A58DD-5438-41C7-892A-0DFE83EDC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8BF30CCA-3AB4-4C30-BA30-0FD1C9D0D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792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CDC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601B05C8-1958-459B-976A-C860DD9D9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825" b="1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AIR SENSE · UFG · INTERNET DAS COISAS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AD83A93-3ED2-4573-A7E8-7EA3F102D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64198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B447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1B4470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D19F4B97-ECC6-47F0-8FEC-0398DF8B1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90750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A099EF55-202E-4B40-87F5-D6F23913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717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B4470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1B4470"/>
                </a:solidFill>
                <a:latin typeface="Calibri"/>
                <a:ea typeface="Calibri"/>
                <a:cs typeface="Calibri"/>
              </a:rPr>
              <a:t>PROJETO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D3FA157F-36D5-45B1-8150-05F796D9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AIR SENSE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72EDB948-73A0-430F-A4AF-F899E29CB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81350"/>
            <a:ext cx="361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Estação de monitoramento de qualidade do ar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50ACDB3D-6D08-4EF9-A727-BB5A1456E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0980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9CCDC"/>
            </a:solidFill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159D74B2-00A4-4A47-ADD4-EC71E055A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3837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38BDF8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38BDF8"/>
                </a:solidFill>
                <a:latin typeface="Calibri"/>
                <a:ea typeface="Calibri"/>
                <a:cs typeface="Calibri"/>
              </a:rPr>
              <a:t>INTEGRANTES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A62E999A-A288-4311-9FB5-C24241BA2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765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Khalil Alves Motta · Wilson Maranhão Ramos Filho</a:t>
            </a:r>
          </a:p>
          <a:p xmlns:a="http://schemas.openxmlformats.org/drawingml/2006/main">
            <a:pPr>
              <a:defRPr sz="1200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Lourenço Tabosa Paniago · Higor Ferreira Silva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3E960479-0DF0-4AA6-B2CD-3CC5B6201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9527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38BDF8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38BDF8"/>
                </a:solidFill>
                <a:latin typeface="Calibri"/>
                <a:ea typeface="Calibri"/>
                <a:cs typeface="Calibri"/>
              </a:rPr>
              <a:t>CURSO / DISCIPLINA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0FA1C91D-8818-4A22-BB9C-0232F6731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19087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Engenharia de Computação · Internet das Coisas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D3CA00C3-2BAA-4BCD-AF40-83ECA77E5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6671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38BDF8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38BDF8"/>
                </a:solidFill>
                <a:latin typeface="Calibri"/>
                <a:ea typeface="Calibri"/>
                <a:cs typeface="Calibri"/>
              </a:rPr>
              <a:t>INSTITUIÇÃO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758AA385-B33F-4E15-B540-F744DB352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90525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Universidade Federal de Goiás · Instituto de Informática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947F7734-E45E-4814-88AC-56E938E19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3815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38BDF8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38BDF8"/>
                </a:solidFill>
                <a:latin typeface="Calibri"/>
                <a:ea typeface="Calibri"/>
                <a:cs typeface="Calibri"/>
              </a:rPr>
              <a:t>PROFESSOR(A)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EEDC184E-D69A-4532-B058-37031D34F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61962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________________________________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988D69D9-F7C4-4272-8AD7-50C71020C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09587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38BDF8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38BDF8"/>
                </a:solidFill>
                <a:latin typeface="Calibri"/>
                <a:ea typeface="Calibri"/>
                <a:cs typeface="Calibri"/>
              </a:rPr>
              <a:t>DATA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BA4A3162-F433-4BFC-ABA0-02B7F09A8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3340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02 de agosto de 2026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7883455A-4DA7-4C43-A292-305435B36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95875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1125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Protótipo acadêmico · não substitui instrumento certificado</a:t>
            </a:r>
          </a:p>
        </p:txBody>
      </p:sp>
    </p:spTree>
    <p:extLst>
      <p:ext uri="{BB962C8B-B14F-4D97-AF65-F5344CB8AC3E}">
        <p14:creationId xmlns:p14="http://schemas.microsoft.com/office/powerpoint/2010/main" val="69641778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Google Shape;96;p3">
            <a:extLst xmlns:a="http://schemas.openxmlformats.org/drawingml/2006/main">
              <a:ext uri="{FF2B5EF4-FFF2-40B4-BE49-F238E27FC236}">
                <a16:creationId xmlns:a16="http://schemas.microsoft.com/office/drawing/2014/main" id="{BDDAC485-9188-4761-8219-F0D7F43D47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514350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2 · Introdução e contextualização</a:t>
            </a:r>
          </a:p>
        </p:txBody>
      </p:sp>
      <p:sp>
        <p:nvSpPr>
          <p:cNvPr id="97" name="Google Shape;97;p3">
            <a:extLst xmlns:a="http://schemas.openxmlformats.org/drawingml/2006/main">
              <a:ext uri="{FF2B5EF4-FFF2-40B4-BE49-F238E27FC236}">
                <a16:creationId xmlns:a16="http://schemas.microsoft.com/office/drawing/2014/main" id="{D8AB1974-EB2F-405E-8AD6-04ACA0B6DFD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219200"/>
            <a:ext cx="7734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O desafio não é apenas medir: é preservar contexto e confiança até a decisão.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0B3560DB-012D-4DCB-BE58-E74851B63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C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6D787CD9-F089-47C7-8125-B6049604B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45919D4E-8E18-475C-9018-664699D7E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792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CDC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C96546D6-273E-44A2-B6E1-B17F5A56C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825" b="1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AIR SENSE · UFG · INTERNET DAS COISAS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BCF5D3E1-521E-4B95-8B5F-645C93424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64198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B447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1B4470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pic>
        <p:nvPicPr>
          <p:cNvPr id="1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dc99fd3a884d32"/>
          <a:stretch xmlns:a="http://schemas.openxmlformats.org/drawingml/2006/main"/>
        </p:blipFill>
        <p:spPr>
          <a:xfrm xmlns:a="http://schemas.openxmlformats.org/drawingml/2006/main">
            <a:off x="1694151" y="2238375"/>
            <a:ext cx="3117273" cy="2381250"/>
          </a:xfrm>
          <a:prstGeom xmlns:a="http://schemas.openxmlformats.org/drawingml/2006/main" prst="roundRect">
            <a:avLst>
              <a:gd name="adj" fmla="val 4800"/>
            </a:avLst>
          </a:prstGeom>
        </p:spPr>
      </p:pic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105FD69A-8707-44B9-9DF0-724A7C54A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333625"/>
            <a:ext cx="233362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A qualidade do ar é pouco perceptível sem medição contínua — e um número sem origem, tempo e estado pode induzir interpretação errada.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FC91A9EE-4303-4536-AC00-8A0BFB1FC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3624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8BDF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38BDF8"/>
                </a:solidFill>
                <a:latin typeface="Calibri"/>
                <a:ea typeface="Calibri"/>
                <a:cs typeface="Calibri"/>
              </a:rPr>
              <a:t>PÚBLICO AFETADO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76396617-AB83-4D9A-89DB-9EE0BE9E6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629150"/>
            <a:ext cx="2333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salas de aula · laboratórios · ambientes compartilhados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0A55A9BE-D59E-46DD-9806-474647664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67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38BDF8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38BDF8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78427AEA-28E4-499A-A90C-60EB7C921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3875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FAMÍLIAS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8E071F11-3982-46DE-8CCE-F4926342A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514975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1050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CO₂, VOC, PM, T/RH e canal analógico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34E00E91-33A5-454E-84C2-7FADC89D0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667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38BDF8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38BDF8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A0CC6093-0147-4842-BF1B-218269662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523875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CONTRATO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5D450F6D-BFBA-45CD-9835-CCF4EBAD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514975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1050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v1.1 em firmware, API, apps e Lambda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1080E3B8-D156-44BC-B8FA-DA5901D5D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667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38BDF8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38BDF8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3C0F7267-0B1B-4397-94C1-3887B545C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23875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INTERFACES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BB0119DB-CD1C-4A68-86C8-4F24BAFB8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514975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1050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firmware, REST/WS, Web/PWA e Flutter</a:t>
            </a:r>
          </a:p>
        </p:txBody>
      </p:sp>
    </p:spTree>
    <p:extLst>
      <p:ext uri="{BB962C8B-B14F-4D97-AF65-F5344CB8AC3E}">
        <p14:creationId xmlns:p14="http://schemas.microsoft.com/office/powerpoint/2010/main" val="212646233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4">
            <a:extLst xmlns:a="http://schemas.openxmlformats.org/drawingml/2006/main">
              <a:ext uri="{FF2B5EF4-FFF2-40B4-BE49-F238E27FC236}">
                <a16:creationId xmlns:a16="http://schemas.microsoft.com/office/drawing/2014/main" id="{A70278AE-A3A5-4B52-A653-AA0F35824B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514350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3 · Objetivos</a:t>
            </a:r>
          </a:p>
        </p:txBody>
      </p:sp>
      <p:sp>
        <p:nvSpPr>
          <p:cNvPr id="103" name="Google Shape;103;p4">
            <a:extLst xmlns:a="http://schemas.openxmlformats.org/drawingml/2006/main">
              <a:ext uri="{FF2B5EF4-FFF2-40B4-BE49-F238E27FC236}">
                <a16:creationId xmlns:a16="http://schemas.microsoft.com/office/drawing/2014/main" id="{88F166FB-B937-4EAF-A1AA-7D99BC77632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219200"/>
            <a:ext cx="7734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Transformar sinais heterogêneos em informação rastreável, clara e instalável.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EAF8F081-A975-45E9-BB21-C2990B113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C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251DF1B2-6BD7-4D67-8F8B-7CB22C67C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7C95E329-7FF2-4168-B937-1900D5CF5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792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CDC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C9867AF7-6391-4621-9AC0-1DD955776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825" b="1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AIR SENSE · UFG · INTERNET DAS COISAS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74E733FA-596C-42CA-9271-B50B33423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64198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B447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1B4470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BE5EFD8F-01D1-4770-9269-B848950E5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3238500" cy="3381375"/>
          </a:xfrm>
          <a:prstGeom xmlns:a="http://schemas.openxmlformats.org/drawingml/2006/main" prst="roundRect">
            <a:avLst>
              <a:gd name="adj" fmla="val 5294"/>
            </a:avLst>
          </a:prstGeom>
          <a:solidFill xmlns:a="http://schemas.openxmlformats.org/drawingml/2006/main">
            <a:srgbClr val="0F2C4C"/>
          </a:solidFill>
          <a:ln xmlns:a="http://schemas.openxmlformats.org/drawingml/2006/main" w="0">
            <a:solidFill>
              <a:srgbClr val="0F2C4C"/>
            </a:solidFill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A66A8153-2878-4B14-960C-1444E97D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19375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38BDF8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38BDF8"/>
                </a:solidFill>
                <a:latin typeface="Calibri"/>
                <a:ea typeface="Calibri"/>
                <a:cs typeface="Calibri"/>
              </a:rPr>
              <a:t>OBJETIVO GERAL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19067F31-55A5-4981-82CA-86DD56CED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95625"/>
            <a:ext cx="2571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Construir uma cadeia IoT ponta a ponta para monitorar qualidade do ar e tornar cada leitura verificável até a interface.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D50C9444-7AD5-4764-B503-59C3C5241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2669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8BDF8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38BDF8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367A9DEC-1491-4046-A97B-97DF495EF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2669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Aquisição confiável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7D335853-6F33-4DBE-9677-213E115CF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5908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HAL comum para HIL, sensores físicos e AWS.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D7A19653-86CE-428A-ABF7-66C5846CE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38475"/>
            <a:ext cx="371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CDC"/>
            </a:solidFill>
            <a:prstDash val="solid"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698560DE-23D5-4994-921A-6286B60E3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3372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8BDF8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38BDF8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B3DB7D72-6AE1-4ECD-A9C0-35575FB3B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1337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Transporte íntegro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0DDC0A54-084E-48EE-B334-00EAB4957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45757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ULID, sequência, boot_id, QoS 1, LWT e NTP.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B5E54462-A398-465F-8A14-758DFCB78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905250"/>
            <a:ext cx="371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CDC"/>
            </a:solidFill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A64154F1-6B2B-463A-86CC-F89FD1AB0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00050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8BDF8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38BDF8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10C7EBF5-1D2F-4DCE-A31D-6B02C72C3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0005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Experiência clara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76024F4F-28C0-4CF7-8A96-61A2A0B5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3243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Veredito, tendência e origem live/demo/offline.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6BECB7EE-DAE1-4DFE-8881-ECCA59570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772025"/>
            <a:ext cx="371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CDC"/>
            </a:solidFill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3973E354-EB15-49B0-B2EC-CEC49149C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86727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8BDF8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38BDF8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358EB6E1-E2F1-4521-AF29-373C9A3F4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86727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Evolução segura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F8D9B1A8-05CF-4A08-97F9-AFD573E48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1911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Local funcional; PCB, case e nuvem por gates.</a:t>
            </a:r>
          </a:p>
        </p:txBody>
      </p:sp>
    </p:spTree>
    <p:extLst>
      <p:ext uri="{BB962C8B-B14F-4D97-AF65-F5344CB8AC3E}">
        <p14:creationId xmlns:p14="http://schemas.microsoft.com/office/powerpoint/2010/main" val="86049888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8" name="Google Shape;108;p5">
            <a:extLst xmlns:a="http://schemas.openxmlformats.org/drawingml/2006/main">
              <a:ext uri="{FF2B5EF4-FFF2-40B4-BE49-F238E27FC236}">
                <a16:creationId xmlns:a16="http://schemas.microsoft.com/office/drawing/2014/main" id="{12B31F28-5CE6-4B05-A8DB-7398321834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514350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4 · Nicho de mercado</a:t>
            </a:r>
          </a:p>
        </p:txBody>
      </p:sp>
      <p:sp>
        <p:nvSpPr>
          <p:cNvPr id="109" name="Google Shape;109;p5">
            <a:extLst xmlns:a="http://schemas.openxmlformats.org/drawingml/2006/main">
              <a:ext uri="{FF2B5EF4-FFF2-40B4-BE49-F238E27FC236}">
                <a16:creationId xmlns:a16="http://schemas.microsoft.com/office/drawing/2014/main" id="{1315E698-7510-40B7-82E1-A0A0C7D2E8B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219200"/>
            <a:ext cx="7734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Foco inicial: ambientes educacionais e institucionais que precisam observar, ensinar e testar.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CA1E1CBE-262F-43FC-93BE-A4EEA9472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C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A728987F-BECE-42D6-AD6D-2E4F108AF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0FDAD96C-780F-4DA0-85BB-022DEC82F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792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CDC"/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05AC0247-1CFB-4CF5-AFAA-8C73BC7BA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825" b="1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AIR SENSE · UFG · INTERNET DAS COISAS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2DD8AEB3-8030-4FB3-99E1-612B886F8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64198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B447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1B4470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B0A876D6-9FFD-4CEB-8C50-18FB3651F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71750"/>
            <a:ext cx="2381250" cy="2381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4FB"/>
          </a:solidFill>
          <a:ln xmlns:a="http://schemas.openxmlformats.org/drawingml/2006/main" w="28575">
            <a:solidFill>
              <a:srgbClr val="38BDF8"/>
            </a:solidFill>
            <a:prstDash val="solid"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3CD590AC-AF42-46C7-B52A-CAAABD45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43250"/>
            <a:ext cx="16573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AIR</a:t>
            </a:r>
          </a:p>
          <a:p xmlns:a="http://schemas.openxmlformats.org/drawingml/2006/main">
            <a:pPr algn="ctr">
              <a:defRPr sz="2550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SENSE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C398ED9F-2ACC-4C15-9138-BC1DEA1A8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1717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8BDF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38BDF8"/>
                </a:solidFill>
                <a:latin typeface="Calibri"/>
                <a:ea typeface="Calibri"/>
                <a:cs typeface="Calibri"/>
              </a:rPr>
              <a:t>PÚBLICO-ALVO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183087F1-A3EB-4A17-B36C-50DE0DD6C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438400"/>
            <a:ext cx="4238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Universidades, escolas, laboratórios, makers e equipes de pesquisa.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1049EE25-9D50-425D-A624-1A2D79EA6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861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8BDF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38BDF8"/>
                </a:solidFill>
                <a:latin typeface="Calibri"/>
                <a:ea typeface="Calibri"/>
                <a:cs typeface="Calibri"/>
              </a:rPr>
              <a:t>CLIENTES / USUÁRIOS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3D8C5D1D-2C64-493E-A75F-9A7739D9E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352800"/>
            <a:ext cx="4238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Professores, estudantes e responsáveis por ambientes institucionais.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9754F279-0F0E-4C01-9DC4-A1E0910AF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0005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8BDF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38BDF8"/>
                </a:solidFill>
                <a:latin typeface="Calibri"/>
                <a:ea typeface="Calibri"/>
                <a:cs typeface="Calibri"/>
              </a:rPr>
              <a:t>MERCADO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BCADA1A3-BBA8-42E6-A4A3-AC2085E23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267200"/>
            <a:ext cx="4238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Monitoramento ambiental de baixo custo combinado ao ensino de IoT.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A23FFAD9-C861-41E2-89ED-175B31FEA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9149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9A89D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19A89D"/>
                </a:solidFill>
                <a:latin typeface="Calibri"/>
                <a:ea typeface="Calibri"/>
                <a:cs typeface="Calibri"/>
              </a:rPr>
              <a:t>DIFERENCIAL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583266BF-3857-425D-9564-506F40218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181600"/>
            <a:ext cx="4238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HIL + local/offline + Web/mobile + caminho AWS, com limites transparentes.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8CAB7B67-F490-40B6-A6BF-31286664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72125"/>
            <a:ext cx="7429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1050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Não há estimativa de TAM/SAM/SOM: o escopo atual é piloto acadêmico, não projeção comercial.</a:t>
            </a:r>
          </a:p>
        </p:txBody>
      </p:sp>
    </p:spTree>
    <p:extLst>
      <p:ext uri="{BB962C8B-B14F-4D97-AF65-F5344CB8AC3E}">
        <p14:creationId xmlns:p14="http://schemas.microsoft.com/office/powerpoint/2010/main" val="4901239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4" name="Google Shape;114;p6">
            <a:extLst xmlns:a="http://schemas.openxmlformats.org/drawingml/2006/main">
              <a:ext uri="{FF2B5EF4-FFF2-40B4-BE49-F238E27FC236}">
                <a16:creationId xmlns:a16="http://schemas.microsoft.com/office/drawing/2014/main" id="{79B37467-6350-4EED-8E83-BA299B53F8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514350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5 · Requisitos atualizados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0017C730-ECE4-42EF-8051-D797EA5E5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C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0158B1AA-A6BA-4050-9027-CAB8D2308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FF4A3B76-0F05-40A6-BE15-9606D62CB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792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CDC"/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C8E3196D-B7FB-436B-84F2-6B9A8688F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825" b="1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AIR SENSE · UFG · INTERNET DAS COISAS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32FD9644-2F17-4826-BE1B-6FDCB1D3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64198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B447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1B4470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7E33FC5F-E134-47DE-8F0E-8250A3464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7734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O requisito principal é confiabilidade ponta a ponta dentro dos limites do ESP-WROOM-32.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7246FFB9-8005-4144-80F0-45F17DDF0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145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REQUISITO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7E510EAF-F3EF-4995-9407-7DCDFE1FF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1145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DECISÃO DE PROJETO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AF71F146-9D71-4CDE-884D-91689FF15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1145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EVIDÊNCIA / CRITÉRIO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3C61FF9E-71AD-4039-98FF-CDDC05B1C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00300"/>
            <a:ext cx="1190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B4470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1B4470"/>
                </a:solidFill>
                <a:latin typeface="Calibri"/>
                <a:ea typeface="Calibri"/>
                <a:cs typeface="Calibri"/>
              </a:rPr>
              <a:t>PROBLEMA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5995041E-DFC9-44F4-B94B-2227AE17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4003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Leituras isoladas, sem contexto ou estado confiável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C4045738-74BE-4D00-B630-FCA587FE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4003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1125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Contrato v1.1 + origem + tempo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273E6B0D-8EC4-4615-930D-C3E0A48D4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762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CDC"/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9DA2E662-6168-408A-BF4C-A994A3CE6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90850"/>
            <a:ext cx="1190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B4470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1B4470"/>
                </a:solidFill>
                <a:latin typeface="Calibri"/>
                <a:ea typeface="Calibri"/>
                <a:cs typeface="Calibri"/>
              </a:rPr>
              <a:t>SOLUÇÃO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F3A8F8CC-2796-422E-9972-4B5FA59D5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9908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Aquisição, transporte, histórico e interfaces integrados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BE9479BC-40D4-46FE-94B7-E0950D3CE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99085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1125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HAL/HIL + MQTT + REST/WS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7B93C0E7-A86E-46AC-9CEE-75EE940C4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86150"/>
            <a:ext cx="762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CDC"/>
            </a:solidFill>
            <a:prstDash val="solid"/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E3886494-B0D6-4CC4-8B46-F48330442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81400"/>
            <a:ext cx="1190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B4470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1B4470"/>
                </a:solidFill>
                <a:latin typeface="Calibri"/>
                <a:ea typeface="Calibri"/>
                <a:cs typeface="Calibri"/>
              </a:rPr>
              <a:t>PÚBLICO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8119E0EE-C8D3-46BF-A402-D74F97B3B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5814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Uso educacional, laboratório e piloto controlado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8906EB7E-7C9E-47B2-BE6A-CCBE26720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5814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1125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Demo, live e offline explícitos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3A8F7310-6B63-410F-976E-B7F29593C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76700"/>
            <a:ext cx="762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CDC"/>
            </a:solidFill>
            <a:prstDash val="solid"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5C5C5CF3-8819-4971-85FE-AB90B7547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71950"/>
            <a:ext cx="1190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B4470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1B4470"/>
                </a:solidFill>
                <a:latin typeface="Calibri"/>
                <a:ea typeface="Calibri"/>
                <a:cs typeface="Calibri"/>
              </a:rPr>
              <a:t>RECURSOS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2540B18F-6F3E-494C-8CE0-2E700E443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1719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ESP32, sensores, broker, Node, Flutter e IaC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81155ECC-24E0-4FF6-95D8-137E08413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17195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1125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Perfis local, físico e AWS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CB34EDE2-C743-4503-97AC-A56D0787C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0"/>
            <a:ext cx="762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CDC"/>
            </a:solidFill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84F67F88-4EF7-4CBF-8785-26544419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1190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B4470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1B4470"/>
                </a:solidFill>
                <a:latin typeface="Calibri"/>
                <a:ea typeface="Calibri"/>
                <a:cs typeface="Calibri"/>
              </a:rPr>
              <a:t>CUSTOS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2699F309-2103-448D-8BA0-1B61C91A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7625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Hardware, fabricação e nuvem dependem de decisão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CE13EC1D-5134-4E0E-8ED5-B36CD139E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7625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1125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Sem valores inventados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81827F04-8918-4C74-8E86-A423629AB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57800"/>
            <a:ext cx="762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CDC"/>
            </a:solidFill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005BF144-F95F-4762-99F7-8677F5D25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53050"/>
            <a:ext cx="1190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B4470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1B4470"/>
                </a:solidFill>
                <a:latin typeface="Calibri"/>
                <a:ea typeface="Calibri"/>
                <a:cs typeface="Calibri"/>
              </a:rPr>
              <a:t>BENEFÍCIOS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E60CAA7D-BAA5-4AEA-A731-271297E73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3530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Base instalável, rastreável e evolutiva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3A01BD18-F0B8-4432-9D59-9F11EA44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535305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1125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Builds, testes e roadmaps</a:t>
            </a:r>
          </a:p>
        </p:txBody>
      </p:sp>
    </p:spTree>
    <p:extLst>
      <p:ext uri="{BB962C8B-B14F-4D97-AF65-F5344CB8AC3E}">
        <p14:creationId xmlns:p14="http://schemas.microsoft.com/office/powerpoint/2010/main" val="92565867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1" name="Google Shape;121;p7">
            <a:extLst xmlns:a="http://schemas.openxmlformats.org/drawingml/2006/main">
              <a:ext uri="{FF2B5EF4-FFF2-40B4-BE49-F238E27FC236}">
                <a16:creationId xmlns:a16="http://schemas.microsoft.com/office/drawing/2014/main" id="{85699343-9A18-4393-AE37-967E96A1BA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219200"/>
            <a:ext cx="7734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A seleção combina relevância ambiental, princípio de medição e limites documentados.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9384296D-1FE4-4C17-9F9F-4AB099918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C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4B92A9D4-7E51-4B79-968D-363BA4045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2BB64A9C-25E8-44E1-B70F-384309CB9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792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CDC"/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D6E8D421-ADB5-49CB-BE3A-3B8CE193B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825" b="1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AIR SENSE · UFG · INTERNET DAS COISAS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808FDDB1-0160-4C4D-9964-FB8BB57B8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64198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B447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1B4470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04BEA635-D3FE-4E29-82B7-E30C93A94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924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6 · Fundamentação científica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3E576A35-F3E5-474E-A929-014AF8DB6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9800"/>
            <a:ext cx="76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1EDEC766-7E0B-412D-8D35-CF5E2E196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098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B4470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1B4470"/>
                </a:solidFill>
                <a:latin typeface="Calibri"/>
                <a:ea typeface="Calibri"/>
                <a:cs typeface="Calibri"/>
              </a:rPr>
              <a:t>OMS · 2021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7E191727-6A40-4CFA-B137-F5A4C9FA8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1907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PM₂.₅ e PM₁₀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23DE63B5-D2CE-4041-BB4C-4E29DDED3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05075"/>
            <a:ext cx="5429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As diretrizes globais tratam material particulado como poluente central; o projeto mede PM sem alegar certificação.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6CE4C9DD-CEFC-49AC-8115-9EDACE3BC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76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A89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373C8BC3-7423-470C-B731-F1E58C4D4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670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B4470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1B4470"/>
                </a:solidFill>
                <a:latin typeface="Calibri"/>
                <a:ea typeface="Calibri"/>
                <a:cs typeface="Calibri"/>
              </a:rPr>
              <a:t>SENSIRION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ED5E8A19-7D75-490F-9FF7-95F9463ED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0480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SCD4x · CO₂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B5BF29F4-EC9B-44A6-BD67-A477AF408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62325"/>
            <a:ext cx="5429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Medição fotoacústica NDIR orienta a escolha do SCD41 e o uso de compensação/estabilização.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2F0C9E8E-7800-4485-8E17-D8CE5DB3C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24300"/>
            <a:ext cx="76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9B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4A03D744-57A2-4394-BC9A-7442BF49F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243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B4470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1B4470"/>
                </a:solidFill>
                <a:latin typeface="Calibri"/>
                <a:ea typeface="Calibri"/>
                <a:cs typeface="Calibri"/>
              </a:rPr>
              <a:t>SENSIRION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F7C01496-2CDB-4B05-BD37-1937387D4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9052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SGP40 · VOC Index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01486B66-D628-4ABB-8481-7B9FF4A2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219575"/>
            <a:ext cx="5429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O algoritmo transforma o sinal MOx em índice 1–500; o resultado não deve ser apresentado como ppm de VOC.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B8F1FC27-888A-4AB1-8E99-3BC13353E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81550"/>
            <a:ext cx="76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44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B050A253-C58F-4EF1-A5C2-6211489CA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815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B4470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1B4470"/>
                </a:solidFill>
                <a:latin typeface="Calibri"/>
                <a:ea typeface="Calibri"/>
                <a:cs typeface="Calibri"/>
              </a:rPr>
              <a:t>ESPRESSIF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977FE6F5-8EC9-4D2D-ACDE-FB3B45A69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762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ESP-WROOM-32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8EF3DC3B-7E3F-4E82-A563-A24360733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076825"/>
            <a:ext cx="5429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520 KB de SRAM e 4 MB de flash fundamentam buffers fixos, fila curta e controle de payload/heap.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F53F74FD-80E4-468A-9202-7A296D6C5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975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Referências completas e links oficiais estão nas notas do slide.</a:t>
            </a:r>
          </a:p>
        </p:txBody>
      </p:sp>
    </p:spTree>
    <p:extLst>
      <p:ext uri="{BB962C8B-B14F-4D97-AF65-F5344CB8AC3E}">
        <p14:creationId xmlns:p14="http://schemas.microsoft.com/office/powerpoint/2010/main" val="85202590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6" name="Google Shape;126;p8">
            <a:extLst xmlns:a="http://schemas.openxmlformats.org/drawingml/2006/main">
              <a:ext uri="{FF2B5EF4-FFF2-40B4-BE49-F238E27FC236}">
                <a16:creationId xmlns:a16="http://schemas.microsoft.com/office/drawing/2014/main" id="{7293C711-7EFF-4FF7-99BE-18C584797A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514350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7 · Solução</a:t>
            </a:r>
          </a:p>
        </p:txBody>
      </p:sp>
      <p:sp>
        <p:nvSpPr>
          <p:cNvPr id="127" name="Google Shape;127;p8">
            <a:extLst xmlns:a="http://schemas.openxmlformats.org/drawingml/2006/main">
              <a:ext uri="{FF2B5EF4-FFF2-40B4-BE49-F238E27FC236}">
                <a16:creationId xmlns:a16="http://schemas.microsoft.com/office/drawing/2014/main" id="{E26A2706-8429-4F3E-AA57-D9382D6207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219200"/>
            <a:ext cx="7734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Aplicação em salas e laboratórios: aquisição local, visualização Web/mobile e evolução segura para AWS.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FEE862B-3B52-4559-837C-E74C5F90B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C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49F676F2-A2D6-4000-9070-1809560CB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8DE2B94B-383D-4F78-AD2A-6CE4DDB31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792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CDC"/>
            </a:solidFill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3FB9BFF4-FFA7-4FCA-A5C2-C3F8D8B3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825" b="1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AIR SENSE · UFG · INTERNET DAS COISAS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511B1974-045E-4D2C-9F4A-2F4A34D7A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64198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B447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1B4470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  <p:pic>
        <p:nvPicPr>
          <p:cNvPr id="1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15ea8d737a43d1"/>
          <a:stretch xmlns:a="http://schemas.openxmlformats.org/drawingml/2006/main"/>
        </p:blipFill>
        <p:spPr>
          <a:xfrm xmlns:a="http://schemas.openxmlformats.org/drawingml/2006/main">
            <a:off x="981075" y="2238375"/>
            <a:ext cx="4114800" cy="2857500"/>
          </a:xfrm>
          <a:prstGeom xmlns:a="http://schemas.openxmlformats.org/drawingml/2006/main" prst="roundRect">
            <a:avLst>
              <a:gd name="adj" fmla="val 4000"/>
            </a:avLst>
          </a:prstGeom>
        </p:spPr>
      </p:pic>
      <p:pic>
        <p:nvPicPr>
          <p:cNvPr id="1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87361347474831"/>
          <a:stretch xmlns:a="http://schemas.openxmlformats.org/drawingml/2006/main"/>
        </p:blipFill>
        <p:spPr>
          <a:xfrm xmlns:a="http://schemas.openxmlformats.org/drawingml/2006/main">
            <a:off x="5916083" y="2190750"/>
            <a:ext cx="1693333" cy="3048000"/>
          </a:xfrm>
          <a:prstGeom xmlns:a="http://schemas.openxmlformats.org/drawingml/2006/main" prst="roundRect">
            <a:avLst>
              <a:gd name="adj" fmla="val 5600"/>
            </a:avLst>
          </a:prstGeom>
        </p:spPr>
      </p:pic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6721179D-C4F4-4BE0-ACAE-95FC075EA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816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8BDF8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38BDF8"/>
                </a:solidFill>
                <a:latin typeface="Calibri"/>
                <a:ea typeface="Calibri"/>
                <a:cs typeface="Calibri"/>
              </a:rPr>
              <a:t>ONDE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1E83ACCE-B228-40DB-AB6C-45C76DA46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1975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050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salas · laboratórios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1E186BA6-15B4-4F9E-96D8-6E384CA9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53816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8BDF8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38BDF8"/>
                </a:solidFill>
                <a:latin typeface="Calibri"/>
                <a:ea typeface="Calibri"/>
                <a:cs typeface="Calibri"/>
              </a:rPr>
              <a:t>TÉCNICA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1ACCB4AA-2A35-4A64-BCB8-FB1B4B22F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561975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050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HAL/HIL + MQTT QoS 1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C3B792FB-6F5A-439E-81B3-E1E108A72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3816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8BDF8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38BDF8"/>
                </a:solidFill>
                <a:latin typeface="Calibri"/>
                <a:ea typeface="Calibri"/>
                <a:cs typeface="Calibri"/>
              </a:rPr>
              <a:t>JUSTIFICATIVA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F1315567-75F8-4362-80BF-A77A4E483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61975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050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um contrato em toda a cadeia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E147E7BC-FF6A-4C81-8F07-99B26F953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53816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8BDF8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38BDF8"/>
                </a:solidFill>
                <a:latin typeface="Calibri"/>
                <a:ea typeface="Calibri"/>
                <a:cs typeface="Calibri"/>
              </a:rPr>
              <a:t>BENEFÍCIOS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3A022777-D0D4-40D8-9DE1-0C56D00AD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561975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050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live · histórico · alertas · diagnóstico</a:t>
            </a:r>
          </a:p>
        </p:txBody>
      </p:sp>
    </p:spTree>
    <p:extLst>
      <p:ext uri="{BB962C8B-B14F-4D97-AF65-F5344CB8AC3E}">
        <p14:creationId xmlns:p14="http://schemas.microsoft.com/office/powerpoint/2010/main" val="10769357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2" name="Google Shape;132;p9">
            <a:extLst xmlns:a="http://schemas.openxmlformats.org/drawingml/2006/main">
              <a:ext uri="{FF2B5EF4-FFF2-40B4-BE49-F238E27FC236}">
                <a16:creationId xmlns:a16="http://schemas.microsoft.com/office/drawing/2014/main" id="{A5A9DC10-2888-4645-84D1-7636F1E1ED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514350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8 · Arquitetura da solução</a:t>
            </a:r>
          </a:p>
        </p:txBody>
      </p:sp>
      <p:sp>
        <p:nvSpPr>
          <p:cNvPr id="133" name="Google Shape;133;p9">
            <a:extLst xmlns:a="http://schemas.openxmlformats.org/drawingml/2006/main">
              <a:ext uri="{FF2B5EF4-FFF2-40B4-BE49-F238E27FC236}">
                <a16:creationId xmlns:a16="http://schemas.microsoft.com/office/drawing/2014/main" id="{9E941310-BD57-4E19-9C4F-790962E076D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219200"/>
            <a:ext cx="7734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O contrato v1.1 mantém identidade, tempo, medidas e qualidade do ESP32 aos consumidores.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631ACA39-A36B-491C-BA45-EE6CADBE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C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1902B667-2CBB-434A-B099-204716810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6B69D60C-2502-418C-B25B-1ADFAD8D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792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CDC"/>
            </a:solidFill>
            <a:prstDash val="solid"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C00600BE-CC36-4B7B-9DED-301E58C3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825" b="1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AIR SENSE · UFG · INTERNET DAS COISAS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BBF364FF-4780-40CF-8A64-5F0524228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64198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B447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1B4470"/>
                </a:solidFill>
                <a:latin typeface="Calibri"/>
                <a:ea typeface="Calibri"/>
                <a:cs typeface="Calibri"/>
              </a:rPr>
              <a:t>09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1BAEA702-21B0-4534-BEFF-9A9282569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876550"/>
            <a:ext cx="4000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D6997A4C-9C0A-47FD-83E0-0396A83C3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876550"/>
            <a:ext cx="4000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30FA9D7B-8D67-4A76-B130-6621D7789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876550"/>
            <a:ext cx="4000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3442004D-E42C-4BAE-9C35-20DD6C48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876550"/>
            <a:ext cx="4000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8E281021-876F-4AFF-88E4-34DBF3C51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524250"/>
            <a:ext cx="228600" cy="4286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BB406982-043B-48E9-8272-1F5C63462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4305300"/>
            <a:ext cx="4000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D9233BDD-ED59-460C-BF68-6BF247ABD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305300"/>
            <a:ext cx="4000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07B7B6CE-170E-44DE-8E45-0A8E2F3EE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24125"/>
            <a:ext cx="11430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C"/>
            </a:solidFill>
            <a:prstDash val="solid"/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A739A0B5-D714-43A0-9C6E-1DAC36990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193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SENSORES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DCA156ED-C422-4153-84F2-E5386D6FD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24175"/>
            <a:ext cx="95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975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HIL ou físicos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36CC8D83-1C79-4761-981B-560E4D14A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524125"/>
            <a:ext cx="11430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F2C4C"/>
          </a:solidFill>
          <a:ln xmlns:a="http://schemas.openxmlformats.org/drawingml/2006/main" w="13335">
            <a:solidFill>
              <a:srgbClr val="B9CCDC"/>
            </a:solidFill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2041254C-E803-49EE-957C-878D47452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6193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ESP32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CA311537-2266-49C0-AC60-984E6CB99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924175"/>
            <a:ext cx="95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D9E9F5"/>
                </a:solidFill>
                <a:latin typeface="Calibri"/>
                <a:ea typeface="Calibri"/>
                <a:cs typeface="Calibri"/>
              </a:defRPr>
            </a:pPr>
            <a:r>
              <a:rPr sz="975">
                <a:solidFill>
                  <a:srgbClr val="D9E9F5"/>
                </a:solidFill>
                <a:latin typeface="Calibri"/>
                <a:ea typeface="Calibri"/>
                <a:cs typeface="Calibri"/>
              </a:rPr>
              <a:t>HAL + v1.1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92BC6190-6B58-4CD5-941A-844829862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524125"/>
            <a:ext cx="11430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C"/>
            </a:solidFill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2AFF3418-3028-4802-9D6E-C16C91BF4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6193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MQTT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50D908F6-62A9-499A-BEA8-F973FA1B3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924175"/>
            <a:ext cx="95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975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QoS 1 + LWT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398C8B64-6233-45ED-BA9C-564F21BB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524125"/>
            <a:ext cx="11430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C"/>
            </a:solidFill>
            <a:prstDash val="solid"/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DE5A818E-8464-4F86-9D02-07DE5DE59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6193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BACKEND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0B252313-0CE5-4B74-9C75-2713B47A1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924175"/>
            <a:ext cx="95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975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REST + WS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8AFAD4B8-314C-49BB-8B7C-9A145E56B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524125"/>
            <a:ext cx="1381125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F2C4C"/>
          </a:solidFill>
          <a:ln xmlns:a="http://schemas.openxmlformats.org/drawingml/2006/main" w="13335">
            <a:solidFill>
              <a:srgbClr val="B9CCDC"/>
            </a:solidFill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C5720EF7-9514-4E50-BA17-BBD600B34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619375"/>
            <a:ext cx="1190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CLIENTES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7A24FFEB-ED2B-4C6E-9A97-C6D7D37E4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924175"/>
            <a:ext cx="1190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D9E9F5"/>
                </a:solidFill>
                <a:latin typeface="Calibri"/>
                <a:ea typeface="Calibri"/>
                <a:cs typeface="Calibri"/>
              </a:defRPr>
            </a:pPr>
            <a:r>
              <a:rPr sz="975">
                <a:solidFill>
                  <a:srgbClr val="D9E9F5"/>
                </a:solidFill>
                <a:latin typeface="Calibri"/>
                <a:ea typeface="Calibri"/>
                <a:cs typeface="Calibri"/>
              </a:rPr>
              <a:t>Web/PWA + Flutter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C564EFF7-407F-4066-AF6F-934DE1596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981450"/>
            <a:ext cx="1524000" cy="904875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EAF4FB"/>
          </a:solidFill>
          <a:ln xmlns:a="http://schemas.openxmlformats.org/drawingml/2006/main" w="13335">
            <a:solidFill>
              <a:srgbClr val="B9CCDC"/>
            </a:solidFill>
            <a:prstDash val="solid"/>
          </a:ln>
        </p:spPr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95A241B7-D185-4AC9-AE4E-6A82EE8BA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07670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AWS IOT CORE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A4BAC3F9-581A-49D3-AE3F-EF4923B2F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381500"/>
            <a:ext cx="133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975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mTLS + Rule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2574B722-09B8-4E28-BA0C-8B22E3B16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3981450"/>
            <a:ext cx="1143000" cy="904875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C"/>
            </a:solidFill>
            <a:prstDash val="solid"/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725CCF9D-188E-4DAC-AFFF-A07494A6B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40767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SQS / DLQ</a:t>
            </a:r>
          </a:p>
        </p:txBody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16DF3E63-B7EA-46DC-963B-1ACE6F4D5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4381500"/>
            <a:ext cx="95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975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buffer + reentrega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0C4EA161-B2A1-4741-B3C3-5D20A265D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981450"/>
            <a:ext cx="1171575" cy="904875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EAF4FB"/>
          </a:solidFill>
          <a:ln xmlns:a="http://schemas.openxmlformats.org/drawingml/2006/main" w="13335">
            <a:solidFill>
              <a:srgbClr val="B9CCDC"/>
            </a:solidFill>
            <a:prstDash val="solid"/>
          </a:ln>
        </p:spPr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29F44692-8D9E-40EC-AA0A-C363647A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076700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LAMBDA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5FD178FF-B233-46D7-94E3-1A9495CBE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381500"/>
            <a:ext cx="9810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975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valida e grava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21162AC9-477D-4F72-A00F-CE5B6D14B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953000"/>
            <a:ext cx="0" cy="342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8BDF8"/>
            </a:solidFill>
            <a:prstDash val="solid"/>
          </a:ln>
        </p:spPr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337F6644-FCF7-46B0-9046-9B4F75AC3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295900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B4470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1B4470"/>
                </a:solidFill>
                <a:latin typeface="Calibri"/>
                <a:ea typeface="Calibri"/>
                <a:cs typeface="Calibri"/>
              </a:rPr>
              <a:t>S3 bruto · DynamoDB estado · logs e alarmes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1E3ABB1F-023A-49BB-A275-03B0D2716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7486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975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AWS está codificada em CloudFormation, mas não foi implantada sem autorização e orçamento.</a:t>
            </a:r>
          </a:p>
        </p:txBody>
      </p:sp>
    </p:spTree>
    <p:extLst>
      <p:ext uri="{BB962C8B-B14F-4D97-AF65-F5344CB8AC3E}">
        <p14:creationId xmlns:p14="http://schemas.microsoft.com/office/powerpoint/2010/main" val="33612089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8" name="Google Shape;138;p10">
            <a:extLst xmlns:a="http://schemas.openxmlformats.org/drawingml/2006/main">
              <a:ext uri="{FF2B5EF4-FFF2-40B4-BE49-F238E27FC236}">
                <a16:creationId xmlns:a16="http://schemas.microsoft.com/office/drawing/2014/main" id="{3054B359-70C9-4A61-A679-4C9CBBE5D6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514350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9 · Tecnologias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F9D2E764-2DCD-4875-B58F-16103B6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C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2357ADFB-4356-41C3-A8D5-9109682C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7647E4C8-81E7-4E88-94E1-D5DFF1A7A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792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CDC"/>
            </a:solidFill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7A5DED4F-37D0-4E45-9773-5F25F1EFC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825" b="1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AIR SENSE · UFG · INTERNET DAS COISAS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1B60C262-3944-4848-B18F-52C65C446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64198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B447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1B4470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3D282404-4209-4C4B-9C49-39703B60E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7734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Cada tecnologia ocupa uma responsabilidade clara; a evidência vem de builds e testes.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1F006ABA-7C59-4DBD-AE73-93AEC2565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90750"/>
            <a:ext cx="752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C4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0" tIns="0" rIns="1524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FIRMWARE    </a:t>
            </a: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C++ · PlatformIO · ArduinoJson · PubSubClient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22311DFF-0F85-4E44-96C6-6FC2D45A3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76550"/>
            <a:ext cx="752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447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0" tIns="0" rIns="1524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BACKEND / WEB    </a:t>
            </a: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Node.js · REST · WebSocket · PWA · Prometheus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2CE2A3A6-F70B-4A1B-96C6-3E480EA90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752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B9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0" tIns="0" rIns="1524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MOBILE    </a:t>
            </a: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Flutter · Dart · Android SDK 36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572539DD-81B8-43B9-80A7-2C23FC51D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752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86A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0" tIns="0" rIns="1524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INFRA / DADOS    </a:t>
            </a: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Docker Compose · Mosquitto · CloudFormation · S3 · SQS · Lambda · DynamoDB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5749F64B-0224-4C58-88A7-E89E244CF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958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38BDF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38BDF8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D3714E5B-33D0-4D0D-B811-DB6E29EA5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200650"/>
            <a:ext cx="904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Python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1669129A-6B22-4730-B38B-392C1BCBF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50958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38BDF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38BDF8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9442F994-04F3-4ED8-B85D-2F4037DFE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5200650"/>
            <a:ext cx="904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Node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BAA98BA6-391B-42E9-B268-997389D6A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50958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38BDF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38BDF8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33460049-95D9-4076-B9EB-2F265C618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5200650"/>
            <a:ext cx="904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Flutter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30DF381E-9A1C-4F92-9A5D-4E9D40D39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50958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38BDF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38BDF8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B6E6674C-E1A3-4315-818B-BCDB9BD2F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200650"/>
            <a:ext cx="904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PlatformIO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361C176D-32E5-4E17-A791-7DDC4627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057775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Maior firmware: 60,7% do slot OTA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9CB0A0E4-05A3-4B42-B094-422A46A4B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619750"/>
            <a:ext cx="1428750" cy="171450"/>
          </a:xfrm>
          <a:prstGeom xmlns:a="http://schemas.openxmlformats.org/drawingml/2006/main" prst="roundRect">
            <a:avLst>
              <a:gd name="adj" fmla="val 38889"/>
            </a:avLst>
          </a:prstGeom>
          <a:solidFill xmlns:a="http://schemas.openxmlformats.org/drawingml/2006/main">
            <a:srgbClr val="EAF4FB"/>
          </a:solidFill>
          <a:ln xmlns:a="http://schemas.openxmlformats.org/drawingml/2006/main" w="0">
            <a:solidFill>
              <a:srgbClr val="EAF4FB"/>
            </a:solidFill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D75170D3-A6F6-4FD7-BCDD-74CBB2B0C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619750"/>
            <a:ext cx="866775" cy="171450"/>
          </a:xfrm>
          <a:prstGeom xmlns:a="http://schemas.openxmlformats.org/drawingml/2006/main" prst="roundRect">
            <a:avLst>
              <a:gd name="adj" fmla="val 38889"/>
            </a:avLst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5579149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5" name="Google Shape;145;p11">
            <a:extLst xmlns:a="http://schemas.openxmlformats.org/drawingml/2006/main">
              <a:ext uri="{FF2B5EF4-FFF2-40B4-BE49-F238E27FC236}">
                <a16:creationId xmlns:a16="http://schemas.microsoft.com/office/drawing/2014/main" id="{392DD31F-A67A-437E-B59D-2C10FAA5B0B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219200"/>
            <a:ext cx="7734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A base está pronta para piloto local; o produto físico avança apenas com evidência.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85B4BF49-5966-4C03-ABB5-8010FE9EE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C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B361B6C7-AB40-4FFE-B272-E62BDB0DB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21EE355F-EE6C-4FB6-8068-95ACBB4E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792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CDC"/>
            </a:solidFill>
            <a:prstDash val="solid"/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180160CF-F61C-4A59-BD2B-8A1D85F7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26981"/>
                </a:solidFill>
                <a:latin typeface="Calibri"/>
                <a:ea typeface="Calibri"/>
                <a:cs typeface="Calibri"/>
              </a:defRPr>
            </a:pPr>
            <a:r>
              <a:rPr sz="825" b="1">
                <a:solidFill>
                  <a:srgbClr val="526981"/>
                </a:solidFill>
                <a:latin typeface="Calibri"/>
                <a:ea typeface="Calibri"/>
                <a:cs typeface="Calibri"/>
              </a:rPr>
              <a:t>AIR SENSE · UFG · INTERNET DAS COISAS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410B6A5B-2559-4B07-A35D-5ABD8775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64198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B447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1B4470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5FAA1C76-58AE-4762-AB55-611F765F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10 · Conclusão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243760AF-12B5-4B6E-9463-0B9DDDF48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86000"/>
            <a:ext cx="23336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A89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102120D7-C0CB-437E-9ADD-A22CB8100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2333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BENEFÍCIOS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7355FFF5-C42D-4BD5-AFEA-A30F4379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48000"/>
            <a:ext cx="1952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5000"/>
              </a:lnSpc>
              <a:buNone/>
              <a:defRPr sz="1200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Integração ponta a ponta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200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Instalação local reproduzível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200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Web/PWA, Flutter e pacote AWS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2E2EF783-D1E2-4954-82D4-FFEE03397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286000"/>
            <a:ext cx="23336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9B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9700C09A-7B3A-4B41-B497-24123CEB8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0"/>
            <a:ext cx="2333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LIMITAÇÕES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AEEC0853-FDBF-44CC-9662-DAF985D3E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048000"/>
            <a:ext cx="1952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5000"/>
              </a:lnSpc>
              <a:buNone/>
              <a:defRPr sz="1200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APK com assinatura debug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200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AWS não implantada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200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Sensores/PCB/case sem validação física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40312C1A-9339-4B9E-BBBE-B06CD34D0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286000"/>
            <a:ext cx="23336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E3C14DA7-9789-468C-8F79-94C47DE7C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571750"/>
            <a:ext cx="2333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PRÓXIMOS PASSOS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0AFFA9ED-5780-43EB-B2BB-626D03CC4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48000"/>
            <a:ext cx="1952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5000"/>
              </a:lnSpc>
              <a:buNone/>
              <a:defRPr sz="1200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Bancada e calibração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200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PCB/case Rev A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200">
                <a:solidFill>
                  <a:srgbClr val="0F2C4C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0F2C4C"/>
                </a:solidFill>
                <a:latin typeface="Calibri"/>
                <a:ea typeface="Calibri"/>
                <a:cs typeface="Calibri"/>
              </a:rPr>
              <a:t>Sandbox AWS e OTA assinada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20D86177-D183-429C-8CFE-C72622400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53000"/>
            <a:ext cx="70485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F2C4C"/>
          </a:solidFill>
          <a:ln xmlns:a="http://schemas.openxmlformats.org/drawingml/2006/main" w="0">
            <a:solidFill>
              <a:srgbClr val="0F2C4C"/>
            </a:solidFill>
            <a:prstDash val="solid"/>
          </a:ln>
        </p:spPr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5791294D-E647-410B-8BEA-AFD3872F3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1435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38BDF8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38BDF8"/>
                </a:solidFill>
                <a:latin typeface="Calibri"/>
                <a:ea typeface="Calibri"/>
                <a:cs typeface="Calibri"/>
              </a:rPr>
              <a:t>DECISÃO PROPOSTA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558F8325-1E7B-4623-9D27-B4F6A3030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10540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Aprovar o piloto controlado e executar os gates físicos e de nuvem registrados no plano de testes.</a:t>
            </a:r>
          </a:p>
        </p:txBody>
      </p:sp>
    </p:spTree>
    <p:extLst>
      <p:ext uri="{BB962C8B-B14F-4D97-AF65-F5344CB8AC3E}">
        <p14:creationId xmlns:p14="http://schemas.microsoft.com/office/powerpoint/2010/main" val="134009755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2026-08-02T22:11:12.1340000Z</dcterms:created>
  <dcterms:modified xsi:type="dcterms:W3CDTF">2026-08-02T22:11:12.1340000Z</dcterms:modified>
</coreProperties>
</file>